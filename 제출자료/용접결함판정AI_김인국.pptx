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6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presProps" Target="presProps.xml"  /><Relationship Id="rId35" Type="http://schemas.openxmlformats.org/officeDocument/2006/relationships/viewProps" Target="viewProps.xml"  /><Relationship Id="rId36" Type="http://schemas.openxmlformats.org/officeDocument/2006/relationships/theme" Target="theme/theme1.xml"  /><Relationship Id="rId37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1.xlsx"  /></Relationships>
</file>

<file path=ppt/charts/_rels/chart2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2.xlsx"  /></Relationships>
</file>

<file path=ppt/charts/_rels/chart3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3.xlsx"  /></Relationships>
</file>

<file path=ppt/charts/_rels/chart4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4.xlsx"  /></Relationships>
</file>

<file path=ppt/charts/_rels/chart5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5.xlsx"  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title>
      <c:tx>
        <c:rich>
          <a:bodyPr rot="0" vert="horz" wrap="none" lIns="0" tIns="0" rIns="0" bIns="0" anchor="ctr" anchorCtr="1"/>
          <a:p>
            <a:pPr algn="l">
              <a:defRPr sz="1400" b="1" i="0" u="none">
                <a:solidFill>
                  <a:srgbClr val="17212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sz="1400" b="1" i="0" u="none">
                <a:solidFill>
                  <a:srgbClr val="17212b"/>
                </a:solidFill>
                <a:latin typeface="맑은 고딕"/>
                <a:ea typeface="맑은 고딕"/>
                <a:cs typeface="맑은 고딕"/>
                <a:sym typeface="맑은 고딕"/>
              </a:rPr>
              <a:t>결함별 사진 수 (1차 데이터셋 · 주황 = 100장 미만)</a:t>
            </a:r>
            <a:endParaRPr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사진 수</c:v>
                </c:pt>
              </c:strCache>
            </c:strRef>
          </c:tx>
          <c:spPr>
            <a:solidFill>
              <a:srgbClr val="2b5c8a"/>
            </a:solidFill>
          </c:spPr>
          <c:dPt>
            <c:idx val="0"/>
            <c:invertIfNegative val="0"/>
            <c:bubble3D val="0"/>
            <c:spPr>
              <a:solidFill>
                <a:srgbClr val="e2702b"/>
              </a:solidFill>
            </c:spPr>
          </c:dPt>
          <c:dPt>
            <c:idx val="6"/>
            <c:invertIfNegative val="0"/>
            <c:bubble3D val="0"/>
            <c:spPr>
              <a:solidFill>
                <a:srgbClr val="e2702b"/>
              </a:solidFill>
            </c:spPr>
          </c:dPt>
          <c:dPt>
            <c:idx val="8"/>
            <c:invertIfNegative val="0"/>
            <c:bubble3D val="0"/>
            <c:spPr>
              <a:solidFill>
                <a:srgbClr val="e2702b"/>
              </a:solidFill>
            </c:spPr>
          </c:dPt>
          <c:invertIfNegative val="0"/>
          <c:cat>
            <c:strRef>
              <c:f>Sheet1!$A$2:$A$10</c:f>
              <c:strCache>
                <c:ptCount val="9"/>
                <c:pt idx="0">
                  <c:v>용입부족</c:v>
                </c:pt>
                <c:pt idx="1">
                  <c:v>균열</c:v>
                </c:pt>
                <c:pt idx="2">
                  <c:v>언더컷</c:v>
                </c:pt>
                <c:pt idx="3">
                  <c:v>언더필</c:v>
                </c:pt>
                <c:pt idx="4">
                  <c:v>아크스트라이크</c:v>
                </c:pt>
                <c:pt idx="5">
                  <c:v>기공</c:v>
                </c:pt>
                <c:pt idx="6">
                  <c:v>블로홀</c:v>
                </c:pt>
                <c:pt idx="7">
                  <c:v>스패터</c:v>
                </c:pt>
                <c:pt idx="8">
                  <c:v>오버랩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</c:v>
                </c:pt>
                <c:pt idx="1">
                  <c:v>1508</c:v>
                </c:pt>
                <c:pt idx="2">
                  <c:v>1402</c:v>
                </c:pt>
                <c:pt idx="3">
                  <c:v>292</c:v>
                </c:pt>
                <c:pt idx="4">
                  <c:v>293</c:v>
                </c:pt>
                <c:pt idx="5">
                  <c:v>1307</c:v>
                </c:pt>
                <c:pt idx="6">
                  <c:v>96</c:v>
                </c:pt>
                <c:pt idx="7">
                  <c:v>1975</c:v>
                </c:pt>
                <c:pt idx="8">
                  <c:v>78</c:v>
                </c:pt>
              </c:numCache>
            </c:numRef>
          </c:val>
        </c:ser>
        <c:dLbls>
          <c:delete val="0"/>
          <c:numFmt formatCode="#,##0" sourceLinked="0"/>
          <c:txPr>
            <a:bodyPr rot="0" vert="horz" wrap="none" lIns="0" tIns="0" rIns="0" bIns="0" anchor="ctr" anchorCtr="1"/>
            <a:p>
              <a:pPr algn="l">
                <a:defRPr sz="1100" b="0" i="0" u="none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68027336"/>
        <c:axId val="2113994440"/>
      </c:barChart>
      <c:catAx>
        <c:axId val="2068027336"/>
        <c:scaling>
          <c:orientation val="minMax"/>
        </c:scaling>
        <c:axPos val="b"/>
        <c:crossAx val="2113994440"/>
        <c:delete val="0"/>
        <c:majorTickMark val="out"/>
        <c:minorTickMark val="none"/>
        <c:tickLblPos val="nextTo"/>
        <c:crosses val="autoZero"/>
        <c:auto val="1"/>
        <c:lblAlgn val="ctr"/>
        <c:lblOffset val="100"/>
        <c:tickMarkSkip val="1"/>
        <c:noMultiLvlLbl val="0"/>
      </c:catAx>
      <c:valAx>
        <c:axId val="2113994440"/>
        <c:scaling>
          <c:orientation val="minMax"/>
        </c:scaling>
        <c:axPos val="l"/>
        <c:crossAx val="2068027336"/>
        <c:delete val="0"/>
        <c:majorGridlines>
          <c:spPr>
            <a:ln w="9525">
              <a:solidFill>
                <a:srgbClr val="e1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>
            <a:noFill/>
          </a:ln>
        </c:spPr>
        <c:crosses val="autoZero"/>
        <c:crossBetween val="between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sz="1100" b="0" i="0" u="none">
          <a:solidFill>
            <a:srgbClr val="3b4550"/>
          </a:solidFill>
          <a:latin typeface="맑은 고딕"/>
        </a:defRPr>
      </a:pPr>
      <a:endParaRPr/>
    </a:p>
  </c:txPr>
  <c:extLst>
    <c:ext uri="CC8EB2C9-7E31-499d-B8F2-F6CE61031016">
      <ho:hncChartStyle xmlns:ho="http://schemas.haansoft.com/office/8.0" layoutIndex="-1" colorIndex="-1" styleIndex="-1"/>
    </c:ext>
  </c:extLst>
</c:chartSpace>
</file>

<file path=ppt/charts/chart2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판정 정확도 (사진 단위)</c:v>
                </c:pt>
              </c:strCache>
            </c:strRef>
          </c:tx>
          <c:spPr>
            <a:solidFill>
              <a:srgbClr val="2b5c8a"/>
            </a:solidFill>
          </c:spPr>
          <c:invertIfNegative val="0"/>
          <c:cat>
            <c:strRef>
              <c:f>Sheet1!$A$2:$A$10</c:f>
              <c:strCache>
                <c:ptCount val="9"/>
                <c:pt idx="0">
                  <c:v>용입부족</c:v>
                </c:pt>
                <c:pt idx="1">
                  <c:v>균열</c:v>
                </c:pt>
                <c:pt idx="2">
                  <c:v>언더컷</c:v>
                </c:pt>
                <c:pt idx="3">
                  <c:v>언더필</c:v>
                </c:pt>
                <c:pt idx="4">
                  <c:v>아크스트라이크</c:v>
                </c:pt>
                <c:pt idx="5">
                  <c:v>기공</c:v>
                </c:pt>
                <c:pt idx="6">
                  <c:v>블로홀</c:v>
                </c:pt>
                <c:pt idx="7">
                  <c:v>스패터</c:v>
                </c:pt>
                <c:pt idx="8">
                  <c:v>오버랩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50.0</c:v>
                </c:pt>
                <c:pt idx="1">
                  <c:v>90.2</c:v>
                </c:pt>
                <c:pt idx="2">
                  <c:v>80.4</c:v>
                </c:pt>
                <c:pt idx="3">
                  <c:v>96.6</c:v>
                </c:pt>
                <c:pt idx="4">
                  <c:v>89.3</c:v>
                </c:pt>
                <c:pt idx="5">
                  <c:v>66.1</c:v>
                </c:pt>
                <c:pt idx="6">
                  <c:v>77.8</c:v>
                </c:pt>
                <c:pt idx="7">
                  <c:v>83.4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mAP50 (위치 점수)</c:v>
                </c:pt>
              </c:strCache>
            </c:strRef>
          </c:tx>
          <c:spPr>
            <a:solidFill>
              <a:srgbClr val="e2702b"/>
            </a:solidFill>
          </c:spPr>
          <c:invertIfNegative val="0"/>
          <c:cat>
            <c:strRef>
              <c:f>Sheet1!$A$2:$A$10</c:f>
              <c:strCache>
                <c:ptCount val="9"/>
                <c:pt idx="0">
                  <c:v>용입부족</c:v>
                </c:pt>
                <c:pt idx="1">
                  <c:v>균열</c:v>
                </c:pt>
                <c:pt idx="2">
                  <c:v>언더컷</c:v>
                </c:pt>
                <c:pt idx="3">
                  <c:v>언더필</c:v>
                </c:pt>
                <c:pt idx="4">
                  <c:v>아크스트라이크</c:v>
                </c:pt>
                <c:pt idx="5">
                  <c:v>기공</c:v>
                </c:pt>
                <c:pt idx="6">
                  <c:v>블로홀</c:v>
                </c:pt>
                <c:pt idx="7">
                  <c:v>스패터</c:v>
                </c:pt>
                <c:pt idx="8">
                  <c:v>오버랩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36.5</c:v>
                </c:pt>
                <c:pt idx="1">
                  <c:v>77.7</c:v>
                </c:pt>
                <c:pt idx="2">
                  <c:v>75.7</c:v>
                </c:pt>
                <c:pt idx="3">
                  <c:v>99.5</c:v>
                </c:pt>
                <c:pt idx="4">
                  <c:v>79.2</c:v>
                </c:pt>
                <c:pt idx="5">
                  <c:v>39.7</c:v>
                </c:pt>
                <c:pt idx="6">
                  <c:v>80.8</c:v>
                </c:pt>
                <c:pt idx="7">
                  <c:v>57.8</c:v>
                </c:pt>
                <c:pt idx="8">
                  <c:v>1.2</c:v>
                </c:pt>
              </c:numCache>
            </c:numRef>
          </c:val>
        </c:ser>
        <c:dLbls>
          <c:delete val="0"/>
          <c:numFmt formatCode="0" sourceLinked="0"/>
          <c:txPr>
            <a:bodyPr rot="0" vert="horz" wrap="none" lIns="0" tIns="0" rIns="0" bIns="0" anchor="ctr" anchorCtr="1"/>
            <a:p>
              <a:pPr algn="l">
                <a:defRPr sz="1000" b="0" i="0" u="none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10"/>
        <c:axId val="2068027336"/>
        <c:axId val="2113994440"/>
      </c:barChart>
      <c:catAx>
        <c:axId val="2068027336"/>
        <c:scaling>
          <c:orientation val="minMax"/>
        </c:scaling>
        <c:axPos val="b"/>
        <c:crossAx val="2113994440"/>
        <c:delete val="0"/>
        <c:majorTickMark val="out"/>
        <c:minorTickMark val="none"/>
        <c:tickLblPos val="nextTo"/>
        <c:txPr>
          <a:bodyPr rot="0" vert="horz" wrap="none" lIns="0" tIns="0" rIns="0" bIns="0" anchor="ctr" anchorCtr="1"/>
          <a:p>
            <a:pPr algn="l">
              <a:defRPr sz="1200" b="0" i="0" u="none"/>
            </a:pPr>
            <a:endParaRPr/>
          </a:p>
        </c:txPr>
        <c:crosses val="autoZero"/>
        <c:auto val="1"/>
        <c:lblAlgn val="ctr"/>
        <c:lblOffset val="100"/>
        <c:tickMarkSkip val="1"/>
        <c:noMultiLvlLbl val="0"/>
      </c:catAx>
      <c:valAx>
        <c:axId val="2113994440"/>
        <c:scaling>
          <c:orientation val="minMax"/>
          <c:max val="110"/>
          <c:min val="0"/>
        </c:scaling>
        <c:axPos val="l"/>
        <c:crossAx val="2068027336"/>
        <c:delete val="0"/>
        <c:majorGridlines>
          <c:spPr>
            <a:ln w="9525">
              <a:solidFill>
                <a:srgbClr val="e1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0" vert="horz" wrap="none" lIns="0" tIns="0" rIns="0" bIns="0" anchor="ctr" anchorCtr="1"/>
          <a:p>
            <a:pPr algn="l">
              <a:defRPr sz="1100" b="0" i="0" u="none"/>
            </a:pPr>
            <a:endParaRPr/>
          </a:p>
        </c:txPr>
        <c:crosses val="autoZero"/>
        <c:crossBetween val="between"/>
        <c:majorUnit val="20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legend>
      <c:legendPos val="t"/>
      <c:layout/>
      <c:overlay val="0"/>
      <c:txPr>
        <a:bodyPr rot="0" vert="horz" wrap="none" lIns="0" tIns="0" rIns="0" bIns="0" anchor="ctr" anchorCtr="1"/>
        <a:p>
          <a:pPr algn="l">
            <a:defRPr sz="1200" b="0" i="0" u="none"/>
          </a:pPr>
          <a:endParaRPr/>
        </a:p>
      </c:txPr>
    </c:legend>
    <c:plotVisOnly val="0"/>
    <c:dispBlanksAs val="gap"/>
  </c:chart>
  <c:txPr>
    <a:bodyPr rot="0" vert="horz" wrap="none" lIns="0" tIns="0" rIns="0" bIns="0" anchor="ctr" anchorCtr="1"/>
    <a:p>
      <a:pPr algn="l">
        <a:defRPr sz="1200" b="0" i="0" u="none">
          <a:solidFill>
            <a:srgbClr val="3b4550"/>
          </a:solidFill>
          <a:latin typeface="맑은 고딕"/>
        </a:defRPr>
      </a:pPr>
      <a:endParaRPr/>
    </a:p>
  </c:txPr>
  <c:extLst>
    <c:ext uri="CC8EB2C9-7E31-499d-B8F2-F6CE61031016">
      <ho:hncChartStyle xmlns:ho="http://schemas.haansoft.com/office/8.0" layoutIndex="-1" colorIndex="-1" styleIndex="-1"/>
    </c:ext>
  </c:extLst>
</c:chartSpace>
</file>

<file path=ppt/charts/chart3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 (위치 점수)</c:v>
                </c:pt>
              </c:strCache>
            </c:strRef>
          </c:tx>
          <c:spPr>
            <a:ln w="31750" cap="rnd" cmpd="sng">
              <a:solidFill>
                <a:srgbClr val="2b5c8a"/>
              </a:solidFill>
            </a:ln>
          </c:spPr>
          <c:marker>
            <c:symbol val="none"/>
            <c:size val="7"/>
          </c:marker>
          <c:xVal>
            <c:numRef>
              <c:f>Sheet1!$A$2:$A$72</c:f>
              <c:numCache>
                <c:formatCode>General</c:formatCode>
                <c:ptCount val="7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</c:numCache>
            </c:numRef>
          </c:xVal>
          <c:yVal>
            <c:numRef>
              <c:f>Sheet1!$B$2:$B$72</c:f>
              <c:numCache>
                <c:formatCode>General</c:formatCode>
                <c:ptCount val="71"/>
                <c:pt idx="0">
                  <c:v>14.238000000000001</c:v>
                </c:pt>
                <c:pt idx="1">
                  <c:v>18.792</c:v>
                </c:pt>
                <c:pt idx="2">
                  <c:v>9.613</c:v>
                </c:pt>
                <c:pt idx="3">
                  <c:v>20.39</c:v>
                </c:pt>
                <c:pt idx="4">
                  <c:v>29.597</c:v>
                </c:pt>
                <c:pt idx="5">
                  <c:v>27.058</c:v>
                </c:pt>
                <c:pt idx="6">
                  <c:v>30.243</c:v>
                </c:pt>
                <c:pt idx="7">
                  <c:v>33.959</c:v>
                </c:pt>
                <c:pt idx="8">
                  <c:v>34.464</c:v>
                </c:pt>
                <c:pt idx="9">
                  <c:v>32.266</c:v>
                </c:pt>
                <c:pt idx="10">
                  <c:v>37.844</c:v>
                </c:pt>
                <c:pt idx="11">
                  <c:v>39.195</c:v>
                </c:pt>
                <c:pt idx="12">
                  <c:v>33.93</c:v>
                </c:pt>
                <c:pt idx="13">
                  <c:v>38.7</c:v>
                </c:pt>
                <c:pt idx="14">
                  <c:v>41.227000000000004</c:v>
                </c:pt>
                <c:pt idx="15">
                  <c:v>43.203</c:v>
                </c:pt>
                <c:pt idx="16">
                  <c:v>42.4</c:v>
                </c:pt>
                <c:pt idx="17">
                  <c:v>42.163000000000004</c:v>
                </c:pt>
                <c:pt idx="18">
                  <c:v>42.567</c:v>
                </c:pt>
                <c:pt idx="19">
                  <c:v>42.233</c:v>
                </c:pt>
                <c:pt idx="20">
                  <c:v>44.971</c:v>
                </c:pt>
                <c:pt idx="21">
                  <c:v>44.778</c:v>
                </c:pt>
                <c:pt idx="22">
                  <c:v>46.015</c:v>
                </c:pt>
                <c:pt idx="23">
                  <c:v>44.954</c:v>
                </c:pt>
                <c:pt idx="24">
                  <c:v>47.160999999999994</c:v>
                </c:pt>
                <c:pt idx="25">
                  <c:v>43.785000000000004</c:v>
                </c:pt>
                <c:pt idx="26">
                  <c:v>47.043</c:v>
                </c:pt>
                <c:pt idx="27">
                  <c:v>42.685</c:v>
                </c:pt>
                <c:pt idx="28">
                  <c:v>49.513</c:v>
                </c:pt>
                <c:pt idx="29">
                  <c:v>48.357</c:v>
                </c:pt>
                <c:pt idx="30">
                  <c:v>49.216</c:v>
                </c:pt>
                <c:pt idx="31">
                  <c:v>49.010999999999996</c:v>
                </c:pt>
                <c:pt idx="32">
                  <c:v>50.185</c:v>
                </c:pt>
                <c:pt idx="33">
                  <c:v>46.92</c:v>
                </c:pt>
                <c:pt idx="34">
                  <c:v>48.372</c:v>
                </c:pt>
                <c:pt idx="35">
                  <c:v>48.241</c:v>
                </c:pt>
                <c:pt idx="36">
                  <c:v>51.695</c:v>
                </c:pt>
                <c:pt idx="37">
                  <c:v>52.195</c:v>
                </c:pt>
                <c:pt idx="38">
                  <c:v>50.453</c:v>
                </c:pt>
                <c:pt idx="39">
                  <c:v>52.422999999999995</c:v>
                </c:pt>
                <c:pt idx="40">
                  <c:v>52.351000000000006</c:v>
                </c:pt>
                <c:pt idx="41">
                  <c:v>50.953</c:v>
                </c:pt>
                <c:pt idx="42">
                  <c:v>51.241</c:v>
                </c:pt>
                <c:pt idx="43">
                  <c:v>53.398</c:v>
                </c:pt>
                <c:pt idx="44">
                  <c:v>54.474999999999994</c:v>
                </c:pt>
                <c:pt idx="45">
                  <c:v>53.396</c:v>
                </c:pt>
                <c:pt idx="46">
                  <c:v>53.054</c:v>
                </c:pt>
                <c:pt idx="47">
                  <c:v>55.81700000000001</c:v>
                </c:pt>
                <c:pt idx="48">
                  <c:v>56.682</c:v>
                </c:pt>
                <c:pt idx="49">
                  <c:v>58.092</c:v>
                </c:pt>
                <c:pt idx="50">
                  <c:v>57.506</c:v>
                </c:pt>
                <c:pt idx="51">
                  <c:v>57.376000000000005</c:v>
                </c:pt>
                <c:pt idx="52">
                  <c:v>55.147</c:v>
                </c:pt>
                <c:pt idx="53">
                  <c:v>54.872</c:v>
                </c:pt>
                <c:pt idx="54">
                  <c:v>52.913</c:v>
                </c:pt>
                <c:pt idx="55">
                  <c:v>55.86</c:v>
                </c:pt>
                <c:pt idx="56">
                  <c:v>57.102</c:v>
                </c:pt>
                <c:pt idx="57">
                  <c:v>54.967</c:v>
                </c:pt>
                <c:pt idx="58">
                  <c:v>54.69199999999999</c:v>
                </c:pt>
                <c:pt idx="59">
                  <c:v>56.294999999999995</c:v>
                </c:pt>
                <c:pt idx="60">
                  <c:v>57.279</c:v>
                </c:pt>
                <c:pt idx="61">
                  <c:v>58.158</c:v>
                </c:pt>
                <c:pt idx="62">
                  <c:v>55.747</c:v>
                </c:pt>
                <c:pt idx="63">
                  <c:v>54.734</c:v>
                </c:pt>
                <c:pt idx="64">
                  <c:v>55.022999999999996</c:v>
                </c:pt>
                <c:pt idx="65">
                  <c:v>58.11500000000001</c:v>
                </c:pt>
                <c:pt idx="66">
                  <c:v>56.586999999999996</c:v>
                </c:pt>
                <c:pt idx="67">
                  <c:v>56.07299999999999</c:v>
                </c:pt>
                <c:pt idx="68">
                  <c:v>54.242000000000004</c:v>
                </c:pt>
                <c:pt idx="69">
                  <c:v>54.74099999999999</c:v>
                </c:pt>
                <c:pt idx="70">
                  <c:v>55.721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Sheet1!$B$74</c:f>
              <c:strCache>
                <c:ptCount val="1"/>
                <c:pt idx="0">
                  <c:v>mAP50-95 (엄격한 위치 점수)</c:v>
                </c:pt>
              </c:strCache>
            </c:strRef>
          </c:tx>
          <c:spPr>
            <a:ln w="31750" cap="rnd" cmpd="sng">
              <a:solidFill>
                <a:srgbClr val="e2702b"/>
              </a:solidFill>
            </a:ln>
          </c:spPr>
          <c:marker>
            <c:symbol val="none"/>
            <c:size val="7"/>
          </c:marker>
          <c:xVal>
            <c:numRef>
              <c:f>Sheet1!$A$75:$A$145</c:f>
              <c:numCache>
                <c:formatCode>General</c:formatCode>
                <c:ptCount val="7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</c:numCache>
            </c:numRef>
          </c:xVal>
          <c:yVal>
            <c:numRef>
              <c:f>Sheet1!$B$75:$B$145</c:f>
              <c:numCache>
                <c:formatCode>General</c:formatCode>
                <c:ptCount val="71"/>
                <c:pt idx="0">
                  <c:v>4.668</c:v>
                </c:pt>
                <c:pt idx="1">
                  <c:v>6.748</c:v>
                </c:pt>
                <c:pt idx="2">
                  <c:v>3.274</c:v>
                </c:pt>
                <c:pt idx="3">
                  <c:v>7.4959999999999996</c:v>
                </c:pt>
                <c:pt idx="4">
                  <c:v>11.454</c:v>
                </c:pt>
                <c:pt idx="5">
                  <c:v>10.17</c:v>
                </c:pt>
                <c:pt idx="6">
                  <c:v>13.447000000000001</c:v>
                </c:pt>
                <c:pt idx="7">
                  <c:v>15.222</c:v>
                </c:pt>
                <c:pt idx="8">
                  <c:v>15.028</c:v>
                </c:pt>
                <c:pt idx="9">
                  <c:v>14.105</c:v>
                </c:pt>
                <c:pt idx="10">
                  <c:v>15.268999999999998</c:v>
                </c:pt>
                <c:pt idx="11">
                  <c:v>17.646</c:v>
                </c:pt>
                <c:pt idx="12">
                  <c:v>15.366</c:v>
                </c:pt>
                <c:pt idx="13">
                  <c:v>17.916999999999998</c:v>
                </c:pt>
                <c:pt idx="14">
                  <c:v>19.002</c:v>
                </c:pt>
                <c:pt idx="15">
                  <c:v>19.637</c:v>
                </c:pt>
                <c:pt idx="16">
                  <c:v>19.681</c:v>
                </c:pt>
                <c:pt idx="17">
                  <c:v>19.093</c:v>
                </c:pt>
                <c:pt idx="18">
                  <c:v>20.619</c:v>
                </c:pt>
                <c:pt idx="19">
                  <c:v>19.234</c:v>
                </c:pt>
                <c:pt idx="20">
                  <c:v>22.678</c:v>
                </c:pt>
                <c:pt idx="21">
                  <c:v>20.744</c:v>
                </c:pt>
                <c:pt idx="22">
                  <c:v>22.177</c:v>
                </c:pt>
                <c:pt idx="23">
                  <c:v>22.272</c:v>
                </c:pt>
                <c:pt idx="24">
                  <c:v>22.055</c:v>
                </c:pt>
                <c:pt idx="25">
                  <c:v>21.557000000000002</c:v>
                </c:pt>
                <c:pt idx="26">
                  <c:v>22.218</c:v>
                </c:pt>
                <c:pt idx="27">
                  <c:v>19.991999999999997</c:v>
                </c:pt>
                <c:pt idx="28">
                  <c:v>24.793000000000003</c:v>
                </c:pt>
                <c:pt idx="29">
                  <c:v>25.825</c:v>
                </c:pt>
                <c:pt idx="30">
                  <c:v>24.978</c:v>
                </c:pt>
                <c:pt idx="31">
                  <c:v>24.673000000000002</c:v>
                </c:pt>
                <c:pt idx="32">
                  <c:v>24.802</c:v>
                </c:pt>
                <c:pt idx="33">
                  <c:v>22.874</c:v>
                </c:pt>
                <c:pt idx="34">
                  <c:v>23.47</c:v>
                </c:pt>
                <c:pt idx="35">
                  <c:v>24.291</c:v>
                </c:pt>
                <c:pt idx="36">
                  <c:v>25.801000000000002</c:v>
                </c:pt>
                <c:pt idx="37">
                  <c:v>25.759</c:v>
                </c:pt>
                <c:pt idx="38">
                  <c:v>25.268</c:v>
                </c:pt>
                <c:pt idx="39">
                  <c:v>26.174999999999997</c:v>
                </c:pt>
                <c:pt idx="40">
                  <c:v>25.883</c:v>
                </c:pt>
                <c:pt idx="41">
                  <c:v>25.753999999999998</c:v>
                </c:pt>
                <c:pt idx="42">
                  <c:v>26.159</c:v>
                </c:pt>
                <c:pt idx="43">
                  <c:v>26.06</c:v>
                </c:pt>
                <c:pt idx="44">
                  <c:v>25.137999999999998</c:v>
                </c:pt>
                <c:pt idx="45">
                  <c:v>26.923000000000002</c:v>
                </c:pt>
                <c:pt idx="46">
                  <c:v>28.322000000000003</c:v>
                </c:pt>
                <c:pt idx="47">
                  <c:v>29.402</c:v>
                </c:pt>
                <c:pt idx="48">
                  <c:v>29.051</c:v>
                </c:pt>
                <c:pt idx="49">
                  <c:v>28.479</c:v>
                </c:pt>
                <c:pt idx="50">
                  <c:v>30.214999999999996</c:v>
                </c:pt>
                <c:pt idx="51">
                  <c:v>28.673</c:v>
                </c:pt>
                <c:pt idx="52">
                  <c:v>28.137</c:v>
                </c:pt>
                <c:pt idx="53">
                  <c:v>27.797</c:v>
                </c:pt>
                <c:pt idx="54">
                  <c:v>27.884999999999998</c:v>
                </c:pt>
                <c:pt idx="55">
                  <c:v>28.476000000000003</c:v>
                </c:pt>
                <c:pt idx="56">
                  <c:v>29.799999999999997</c:v>
                </c:pt>
                <c:pt idx="57">
                  <c:v>28.935</c:v>
                </c:pt>
                <c:pt idx="58">
                  <c:v>28.969</c:v>
                </c:pt>
                <c:pt idx="59">
                  <c:v>29.098000000000003</c:v>
                </c:pt>
                <c:pt idx="60">
                  <c:v>28.553</c:v>
                </c:pt>
                <c:pt idx="61">
                  <c:v>28.346</c:v>
                </c:pt>
                <c:pt idx="62">
                  <c:v>28.51</c:v>
                </c:pt>
                <c:pt idx="63">
                  <c:v>29.128</c:v>
                </c:pt>
                <c:pt idx="64">
                  <c:v>29.523</c:v>
                </c:pt>
                <c:pt idx="65">
                  <c:v>29.433</c:v>
                </c:pt>
                <c:pt idx="66">
                  <c:v>29.756</c:v>
                </c:pt>
                <c:pt idx="67">
                  <c:v>28.621000000000002</c:v>
                </c:pt>
                <c:pt idx="68">
                  <c:v>28.643</c:v>
                </c:pt>
                <c:pt idx="69">
                  <c:v>27.986</c:v>
                </c:pt>
                <c:pt idx="70">
                  <c:v>27.954</c:v>
                </c:pt>
              </c:numCache>
            </c:numRef>
          </c:yVal>
          <c:smooth val="0"/>
        </c:ser>
        <c:axId val="2128940872"/>
        <c:axId val="2129643912"/>
      </c:scatterChart>
      <c:valAx>
        <c:axId val="2128940872"/>
        <c:scaling>
          <c:orientation val="minMax"/>
          <c:max val="75"/>
          <c:min val="0"/>
        </c:scaling>
        <c:axPos val="b"/>
        <c:crossAx val="2129643912"/>
        <c:delete val="0"/>
        <c:title>
          <c:tx>
            <c:rich>
              <a:bodyPr rot="0" vert="horz" wrap="none" lIns="0" tIns="0" rIns="0" bIns="0" anchor="ctr" anchorCtr="1"/>
              <a:p>
                <a:pPr algn="l">
                  <a:defRPr sz="1200" b="0" i="0" u="none">
                    <a:solidFill>
                      <a:srgbClr val="5e6873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r>
                  <a:rPr sz="1200" b="0" i="0" u="none">
                    <a:solidFill>
                      <a:srgbClr val="5e6873"/>
                    </a:solidFill>
                    <a:latin typeface="맑은 고딕"/>
                    <a:ea typeface="맑은 고딕"/>
                    <a:cs typeface="맑은 고딕"/>
                    <a:sym typeface="맑은 고딕"/>
                  </a:rPr>
                  <a:t>학습 반복 횟수 (epoch)</a:t>
                </a:r>
                <a:endParaRPr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es val="autoZero"/>
        <c:crossBetween val="midCat"/>
        <c:majorUnit val="10"/>
      </c:valAx>
      <c:valAx>
        <c:axId val="2129643912"/>
        <c:scaling>
          <c:orientation val="minMax"/>
          <c:max val="70"/>
          <c:min val="0"/>
        </c:scaling>
        <c:axPos val="l"/>
        <c:crossAx val="2128940872"/>
        <c:delete val="0"/>
        <c:majorGridlines>
          <c:spPr>
            <a:ln w="9525">
              <a:solidFill>
                <a:srgbClr val="e1e4e8"/>
              </a:solidFill>
            </a:ln>
          </c:spPr>
        </c:majorGridlines>
        <c:title>
          <c:tx>
            <c:rich>
              <a:bodyPr vert="vert270" wrap="none" lIns="0" tIns="0" rIns="0" bIns="0" anchor="ctr" anchorCtr="1"/>
              <a:p>
                <a:pPr algn="l">
                  <a:defRPr sz="1200" b="0" i="0" u="none">
                    <a:solidFill>
                      <a:srgbClr val="5e6873"/>
                    </a:solidFill>
                    <a:latin typeface="맑은 고딕"/>
                    <a:ea typeface="맑은 고딕"/>
                    <a:cs typeface="맑은 고딕"/>
                    <a:sym typeface="맑은 고딕"/>
                  </a:defRPr>
                </a:pPr>
                <a:r>
                  <a:rPr sz="1200" b="0" i="0" u="none">
                    <a:solidFill>
                      <a:srgbClr val="5e6873"/>
                    </a:solidFill>
                    <a:latin typeface="맑은 고딕"/>
                    <a:ea typeface="맑은 고딕"/>
                    <a:cs typeface="맑은 고딕"/>
                    <a:sym typeface="맑은 고딕"/>
                  </a:rPr>
                  <a:t>검증 점수 (%)</a:t>
                </a:r>
                <a:endParaRPr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es val="autoZero"/>
        <c:crossBetween val="midCat"/>
        <c:majorUnit val="10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legend>
      <c:legendPos val="t"/>
      <c:layout/>
      <c:overlay val="0"/>
    </c:legend>
    <c:plotVisOnly val="0"/>
    <c:dispBlanksAs val="gap"/>
  </c:chart>
  <c:txPr>
    <a:bodyPr rot="0" vert="horz" wrap="none" lIns="0" tIns="0" rIns="0" bIns="0" anchor="ctr" anchorCtr="1"/>
    <a:p>
      <a:pPr algn="l">
        <a:defRPr sz="1200" b="0" i="0" u="none">
          <a:solidFill>
            <a:srgbClr val="3b4550"/>
          </a:solidFill>
          <a:latin typeface="맑은 고딕"/>
        </a:defRPr>
      </a:pPr>
      <a:endParaRPr/>
    </a:p>
  </c:txPr>
  <c:extLst>
    <c:ext uri="CC8EB2C9-7E31-499d-B8F2-F6CE61031016">
      <ho:hncChartStyle xmlns:ho="http://schemas.haansoft.com/office/8.0" layoutIndex="-1" colorIndex="-1" styleIndex="-1"/>
    </c:ext>
  </c:extLst>
</c:chartSpace>
</file>

<file path=ppt/charts/chart4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title>
      <c:tx>
        <c:rich>
          <a:bodyPr rot="0" vert="horz" wrap="none" lIns="0" tIns="0" rIns="0" bIns="0" anchor="ctr" anchorCtr="1"/>
          <a:p>
            <a:pPr algn="l">
              <a:defRPr sz="1400" b="1" i="0" u="none">
                <a:solidFill>
                  <a:srgbClr val="17212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sz="1400" b="1" i="0" u="none">
                <a:solidFill>
                  <a:srgbClr val="17212b"/>
                </a:solidFill>
                <a:latin typeface="맑은 고딕"/>
                <a:ea typeface="맑은 고딕"/>
                <a:cs typeface="맑은 고딕"/>
                <a:sym typeface="맑은 고딕"/>
              </a:rPr>
              <a:t>출처별 정답 결함을 찾은 비율 (%)</a:t>
            </a:r>
            <a:endParaRPr/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정답 결함을 찾은 비율</c:v>
                </c:pt>
              </c:strCache>
            </c:strRef>
          </c:tx>
          <c:spPr>
            <a:solidFill>
              <a:srgbClr val="2b5c8a"/>
            </a:solidFill>
          </c:spPr>
          <c:dPt>
            <c:idx val="0"/>
            <c:invertIfNegative val="0"/>
            <c:bubble3D val="0"/>
            <c:spPr>
              <a:solidFill>
                <a:srgbClr val="e2702b"/>
              </a:solidFill>
            </c:spPr>
          </c:dPt>
          <c:dPt>
            <c:idx val="1"/>
            <c:invertIfNegative val="0"/>
            <c:bubble3D val="0"/>
            <c:spPr>
              <a:solidFill>
                <a:srgbClr val="e2702b"/>
              </a:solidFill>
            </c:spPr>
          </c:dPt>
          <c:dPt>
            <c:idx val="2"/>
            <c:invertIfNegative val="0"/>
            <c:bubble3D val="0"/>
            <c:spPr>
              <a:solidFill>
                <a:srgbClr val="e2702b"/>
              </a:solidFill>
            </c:spPr>
          </c:dPt>
          <c:invertIfNegative val="0"/>
          <c:cat>
            <c:strRef>
              <c:f>Sheet1!$A$2:$A$13</c:f>
              <c:strCache>
                <c:ptCount val="12"/>
                <c:pt idx="0">
                  <c:v>휴대폰 현장 사진</c:v>
                </c:pt>
                <c:pt idx="1">
                  <c:v>낯선 스타일</c:v>
                </c:pt>
                <c:pt idx="2">
                  <c:v>변형 심한 사진</c:v>
                </c:pt>
                <c:pt idx="3">
                  <c:v>출처 I</c:v>
                </c:pt>
                <c:pt idx="4">
                  <c:v>출처 H</c:v>
                </c:pt>
                <c:pt idx="5">
                  <c:v>출처 G</c:v>
                </c:pt>
                <c:pt idx="6">
                  <c:v>출처 F</c:v>
                </c:pt>
                <c:pt idx="7">
                  <c:v>출처 E</c:v>
                </c:pt>
                <c:pt idx="8">
                  <c:v>출처 D</c:v>
                </c:pt>
                <c:pt idx="9">
                  <c:v>출처 C</c:v>
                </c:pt>
                <c:pt idx="10">
                  <c:v>출처 B</c:v>
                </c:pt>
                <c:pt idx="11">
                  <c:v>출처 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13</c:v>
                </c:pt>
                <c:pt idx="2">
                  <c:v>24</c:v>
                </c:pt>
                <c:pt idx="3">
                  <c:v>50</c:v>
                </c:pt>
                <c:pt idx="4">
                  <c:v>71</c:v>
                </c:pt>
                <c:pt idx="5">
                  <c:v>72</c:v>
                </c:pt>
                <c:pt idx="6">
                  <c:v>77</c:v>
                </c:pt>
                <c:pt idx="7">
                  <c:v>77</c:v>
                </c:pt>
                <c:pt idx="8">
                  <c:v>82</c:v>
                </c:pt>
                <c:pt idx="9">
                  <c:v>88</c:v>
                </c:pt>
                <c:pt idx="10">
                  <c:v>92</c:v>
                </c:pt>
                <c:pt idx="11">
                  <c:v>100</c:v>
                </c:pt>
              </c:numCache>
            </c:numRef>
          </c:val>
        </c:ser>
        <c:dLbls>
          <c:delete val="0"/>
          <c:numFmt formatCode="0" sourceLinked="0"/>
          <c:txPr>
            <a:bodyPr rot="0" vert="horz" wrap="none" lIns="0" tIns="0" rIns="0" bIns="0" anchor="ctr" anchorCtr="1"/>
            <a:p>
              <a:pPr algn="l">
                <a:defRPr sz="1100" b="0" i="0" u="none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0"/>
        <c:axId val="2068027336"/>
        <c:axId val="2113994440"/>
      </c:barChart>
      <c:catAx>
        <c:axId val="2068027336"/>
        <c:scaling>
          <c:orientation val="minMax"/>
        </c:scaling>
        <c:axPos val="l"/>
        <c:crossAx val="2113994440"/>
        <c:delete val="0"/>
        <c:majorTickMark val="out"/>
        <c:minorTickMark val="none"/>
        <c:tickLblPos val="nextTo"/>
        <c:crosses val="autoZero"/>
        <c:auto val="1"/>
        <c:lblAlgn val="ctr"/>
        <c:lblOffset val="100"/>
        <c:tickMarkSkip val="1"/>
        <c:noMultiLvlLbl val="0"/>
      </c:catAx>
      <c:valAx>
        <c:axId val="2113994440"/>
        <c:scaling>
          <c:orientation val="minMax"/>
          <c:max val="110"/>
          <c:min val="0"/>
        </c:scaling>
        <c:axPos val="b"/>
        <c:crossAx val="2068027336"/>
        <c:delete val="0"/>
        <c:majorGridlines>
          <c:spPr>
            <a:ln w="9525">
              <a:solidFill>
                <a:srgbClr val="e1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es val="autoZero"/>
        <c:crossBetween val="between"/>
        <c:majorUnit val="20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sz="1200" b="0" i="0" u="none">
          <a:solidFill>
            <a:srgbClr val="3b4550"/>
          </a:solidFill>
          <a:latin typeface="맑은 고딕"/>
        </a:defRPr>
      </a:pPr>
      <a:endParaRPr/>
    </a:p>
  </c:txPr>
  <c:extLst>
    <c:ext uri="CC8EB2C9-7E31-499d-B8F2-F6CE61031016">
      <ho:hncChartStyle xmlns:ho="http://schemas.haansoft.com/office/8.0" layoutIndex="-1" colorIndex="-1" styleIndex="-1"/>
    </c:ext>
  </c:extLst>
</c:chartSpace>
</file>

<file path=ppt/charts/chart5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title>
      <c:tx>
        <c:rich>
          <a:bodyPr rot="0" vert="horz" wrap="none" lIns="0" tIns="0" rIns="0" bIns="0" anchor="ctr" anchorCtr="1"/>
          <a:p>
            <a:pPr algn="l">
              <a:defRPr sz="1400" b="1" i="0" u="none">
                <a:solidFill>
                  <a:srgbClr val="17212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sz="1400" b="1" i="0" u="none">
                <a:solidFill>
                  <a:srgbClr val="17212b"/>
                </a:solidFill>
                <a:latin typeface="맑은 고딕"/>
                <a:ea typeface="맑은 고딕"/>
                <a:cs typeface="맑은 고딕"/>
                <a:sym typeface="맑은 고딕"/>
              </a:rPr>
              <a:t>적은 결함의 학습 사진 수 (장)</a:t>
            </a:r>
            <a:endParaRPr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1차 (v1)</c:v>
                </c:pt>
              </c:strCache>
            </c:strRef>
          </c:tx>
          <c:spPr>
            <a:solidFill>
              <a:srgbClr val="9aa3ad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오버랩</c:v>
                </c:pt>
                <c:pt idx="1">
                  <c:v>아크스트라이크</c:v>
                </c:pt>
                <c:pt idx="2">
                  <c:v>언더필</c:v>
                </c:pt>
                <c:pt idx="3">
                  <c:v>블로홀</c:v>
                </c:pt>
                <c:pt idx="4">
                  <c:v>용입부족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</c:v>
                </c:pt>
                <c:pt idx="1">
                  <c:v>191</c:v>
                </c:pt>
                <c:pt idx="2">
                  <c:v>232</c:v>
                </c:pt>
                <c:pt idx="3">
                  <c:v>79</c:v>
                </c:pt>
                <c:pt idx="4">
                  <c:v>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개선 (v2)</c:v>
                </c:pt>
              </c:strCache>
            </c:strRef>
          </c:tx>
          <c:spPr>
            <a:solidFill>
              <a:srgbClr val="e2702b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오버랩</c:v>
                </c:pt>
                <c:pt idx="1">
                  <c:v>아크스트라이크</c:v>
                </c:pt>
                <c:pt idx="2">
                  <c:v>언더필</c:v>
                </c:pt>
                <c:pt idx="3">
                  <c:v>블로홀</c:v>
                </c:pt>
                <c:pt idx="4">
                  <c:v>용입부족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846</c:v>
                </c:pt>
                <c:pt idx="1">
                  <c:v>783</c:v>
                </c:pt>
                <c:pt idx="2">
                  <c:v>639</c:v>
                </c:pt>
                <c:pt idx="3">
                  <c:v>372</c:v>
                </c:pt>
                <c:pt idx="4">
                  <c:v>264</c:v>
                </c:pt>
              </c:numCache>
            </c:numRef>
          </c:val>
        </c:ser>
        <c:dLbls>
          <c:delete val="0"/>
          <c:numFmt formatCode="#,##0" sourceLinked="0"/>
          <c:txPr>
            <a:bodyPr rot="0" vert="horz" wrap="none" lIns="0" tIns="0" rIns="0" bIns="0" anchor="ctr" anchorCtr="1"/>
            <a:p>
              <a:pPr algn="l">
                <a:defRPr sz="1100" b="0" i="0" u="none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2068027336"/>
        <c:axId val="2113994440"/>
      </c:barChart>
      <c:catAx>
        <c:axId val="2068027336"/>
        <c:scaling>
          <c:orientation val="minMax"/>
        </c:scaling>
        <c:axPos val="b"/>
        <c:crossAx val="2113994440"/>
        <c:delete val="0"/>
        <c:majorTickMark val="out"/>
        <c:minorTickMark val="none"/>
        <c:tickLblPos val="nextTo"/>
        <c:crosses val="autoZero"/>
        <c:auto val="1"/>
        <c:lblAlgn val="ctr"/>
        <c:lblOffset val="100"/>
        <c:tickMarkSkip val="1"/>
        <c:noMultiLvlLbl val="0"/>
      </c:catAx>
      <c:valAx>
        <c:axId val="2113994440"/>
        <c:scaling>
          <c:orientation val="minMax"/>
        </c:scaling>
        <c:axPos val="l"/>
        <c:crossAx val="2068027336"/>
        <c:delete val="0"/>
        <c:majorGridlines>
          <c:spPr>
            <a:ln w="9525">
              <a:solidFill>
                <a:srgbClr val="e1e4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es val="autoZero"/>
        <c:crossBetween val="between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legend>
      <c:legendPos val="t"/>
      <c:layout/>
      <c:overlay val="0"/>
    </c:legend>
    <c:plotVisOnly val="0"/>
    <c:dispBlanksAs val="gap"/>
  </c:chart>
  <c:txPr>
    <a:bodyPr rot="0" vert="horz" wrap="none" lIns="0" tIns="0" rIns="0" bIns="0" anchor="ctr" anchorCtr="1"/>
    <a:p>
      <a:pPr algn="l">
        <a:defRPr sz="1200" b="0" i="0" u="none">
          <a:solidFill>
            <a:srgbClr val="3b4550"/>
          </a:solidFill>
          <a:latin typeface="맑은 고딕"/>
        </a:defRPr>
      </a:pPr>
      <a:endParaRPr/>
    </a:p>
  </c:txPr>
  <c:extLst>
    <c:ext uri="CC8EB2C9-7E31-499d-B8F2-F6CE61031016">
      <ho:hncChartStyle xmlns:ho="http://schemas.haansoft.com/office/8.0" layoutIndex="-1" colorIndex="-1" styleIndex="-1"/>
    </c:ext>
  </c:extLst>
</c:chartSpace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F89C1C7-3DCD-1040-A9CF-14679D8B5DDD}" type="datetime1">
              <a:rPr lang="en-US"/>
              <a:pPr lvl="0">
                <a:defRPr/>
              </a:pPr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B5E49A5-4136-284D-997B-48E1D791AD67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9.xml"  /><Relationship Id="rId2" Type="http://schemas.openxmlformats.org/officeDocument/2006/relationships/notesMaster" Target="../notesMasters/notesMaster1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slide" Target="../slides/slide30.xml"  /><Relationship Id="rId2" Type="http://schemas.openxmlformats.org/officeDocument/2006/relationships/notesMaster" Target="../notesMasters/notesMaster1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용접부 사진을 넣으면 어떤 결함이 어디에 있는지 AI가 박스로 표시해 주는 '용접 결함 판정 AI' 프로젝트 결과 보고서입니다.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일곱 부분으로 구성했습니다. 특히 다섯 번째 프로젝트 결과를 자세히 설명했습니다.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공개 데이터로 결함 9종 데이터셋을 만들고, YOLO 모델을 학습시켜, 담당자가 바로 쓰는 판정 프로그램까지 완성한 프로젝트입니다.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외관 검사는 사람의 경험에 크게 의존하고, 결함 종류가 많아 헷갈리며, 기록을 남기기 어렵습니다. 그래서 데이터셋, AI 모델, 판정 프로그램 세 가지를 목표로 잡았습니다.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왼쪽은 프로젝트 기준으로 삼은 결함 분류표이고, 오른쪽은 일반인도 알기 쉽게 한 줄로 풀어 쓴 설명입니다.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학습은 GPU 메모리가 큰 Colab T4에서 했고, PC의 GTX 1650은 판정 프로그램 실행과 테스트에 사용했습니다. 처음 PC에서 학습을 시도했지만 한 epoch에 13분 이상 걸려 Colab으로 옮겼습니다.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다섯 단계를 왼쪽부터 순서대로 설명합니다. 아래 상자는 YOLO가 무엇인지 일반인에게 설명하는 부분입니다.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코드를 역할별 모듈과 클래스로 나눴습니다. 다음 네 장에서 핵심 코드를 하나씩 설명합니다.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공개 데이터마다 결함 이름과 기준이 달라 통일하는 작업이 가장 중요했습니다. 그래프는 1차 데이터셋의 결함별 사진 수로, 스패터와 균열은 많고 블로홀, 오버랩, 용입부족은 매우 적습니다.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데이터 정리 규칙을 코드가 아닌 설정 파일로 관리해서, 데이터를 추가하거나 빼기 쉽게 만들었습니다.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사전학습 모델을 출발점으로 쓰면 적은 데이터로도 빠르게 학습할 수 있습니다.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정답 라벨과 AI 판정을 사진 단위로 비교해 결함별 점수를 계산합니다. gt 줄은 이해를 돕기 위해 간단히 줄여 썼습니다.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판정 프로그램은 이 predict 함수를 사진마다 호출하고, 결과를 번호 박스로 그려 보여 줍니다.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기간 전체의 개발 일정입니다. 10월 25일 현재 v2 재학습을 Colab에서 진행 중이며, 11월 초 평가와 최종 제출을 준비합니다.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판정 정확도는 놓치지 않는 능력, 정밀도는 헛경보를 내지 않는 능력입니다. mAP50은 위치 박스까지 맞혔는지 보는 점수입니다.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9종 중 6종은 78% 이상 찾아냈습니다. 정밀도는 대부분 90% 이상이라 AI가 결함이라고 하면 거의 맞습니다. 반면 기공, 용입부족, 오버랩은 놓치는 경우가 많습니다.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Colab T4 GPU에서 YOLO11s 모델로 학습한 실제 기록입니다. 50회쯤 위치 점수 58%에 도달한 뒤 더 오르지 않아 71회에서 조기 종료했습니다.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잘 맞히는 결함은 모양이 뚜렷하고 데이터가 많습니다. 못 맞히는 결함은 데이터가 적거나(오버랩), 다른 종류의 사진으로 대체했거나(용입부족), 너무 작습니다(기공).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가로가 정답, 세로가 AI 판정입니다. 대각선이 진할수록 잘 맞힌 것입니다. 박스 단위로 엄격하게 센 표라 앞의 사진 단위 정확도와 숫자가 다를 수 있습니다.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왼쪽은 사람이 표시한 정답, 오른쪽은 같은 사진에 대한 AI 판정입니다. 박스 옆 숫자는 신뢰도입니다. 대부분 같은 위치를 찾았고, 일부 작은 결함은 놓쳤습니다.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판정프로그램.bat을 더블클릭하면 이 화면이 열립니다. 예시 사진에서는 모재 표면의 아크스트라이크 3곳을 찾아 신뢰도 80%, 58%, 41%로 표시했습니다.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판정 프로그램으로 결함별 사진을 판정한 결과입니다. 결함마다 박스 색이 정해져 있어 여러 결함이 함께 있어도 구분됩니다. 사진은 공개 데이터셋에서 고른 예시입니다.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공개 데이터 원본을 출처별로 40장씩 뽑아 다시 판정했습니다. 원본에는 학습에 쓴 사진이 일부 섞여 있어 출처 A~I의 비율은 처음 보는 사진의 성능보다 높게 나온 값입니다. 반대로 주황 3곳은 학습한 출처인데도 못 맞혔다는 뜻이라, 촬영 환경이 달라지면 약하다는 결론이 더 분명해집니다. 출처 이름은 부록에 정리했습니다.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결함 표시가 잘못된 출처 2곳을 빼고, 적은 결함은 같은 사진을 여러 번 보여 주는 반복 학습으로 늘렸습니다. 시험용 사진은 원본 그대로 두어 공정하게 비교합니다. 현재 Colab에서 재학습 중입니다.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AI가 사람을 대신하기보다, 1차 선별과 기록을 맡아 검사자를 돕는 도구로 쓰는 것이 현실적입니다.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프로젝트 전체를 다섯 줄로 요약했습니다. 오른쪽은 이 프로젝트를 한 문장으로 줄인 소감입니다.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가장 시간이 많이 든 부분은 모델이 아니라 데이터였습니다. 특히 테스트 점수와 실제 사진의 차이를 발견한 순간이 프로젝트의 방향을 바꿨습니다.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작은 실수와 환경의 제약이 반복됐지만, 그때마다 같은 문제가 다시 생기지 않도록 구조를 바꿨습니다.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이 프로젝트를 하며 가장 크게 느낀 네 가지입니다.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마무리: 사진 한 장으로 시작한 이 AI가 현장 검사자의 든든한 두 번째 눈이 될 수 있도록, v2 재학습과 실제 현장 사진 학습으로 계속 발전시키겠습니다.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23번 슬라이드의 출처 A~I와 주황 3곳의 실제 데이터셋 이름입니다. 각 출처의 원본 사진 40장씩을 1차 모델로 다시 판정했습니다.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9.xml"  /><Relationship Id="rId3" Type="http://schemas.openxmlformats.org/officeDocument/2006/relationships/chart" Target="../charts/char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7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5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6.xml"  /><Relationship Id="rId3" Type="http://schemas.openxmlformats.org/officeDocument/2006/relationships/chart" Target="../charts/char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7.xml"  /><Relationship Id="rId3" Type="http://schemas.openxmlformats.org/officeDocument/2006/relationships/chart" Target="../charts/chart3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8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9.xml"  /><Relationship Id="rId3" Type="http://schemas.openxmlformats.org/officeDocument/2006/relationships/image" Target="../media/image3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0.xml"  /><Relationship Id="rId3" Type="http://schemas.openxmlformats.org/officeDocument/2006/relationships/image" Target="../media/image4.jpeg"  /><Relationship Id="rId4" Type="http://schemas.openxmlformats.org/officeDocument/2006/relationships/image" Target="../media/image5.jpe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1.xml"  /><Relationship Id="rId3" Type="http://schemas.openxmlformats.org/officeDocument/2006/relationships/image" Target="../media/image1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2.xml"  /><Relationship Id="rId3" Type="http://schemas.openxmlformats.org/officeDocument/2006/relationships/image" Target="../media/image6.jpeg"  /><Relationship Id="rId4" Type="http://schemas.openxmlformats.org/officeDocument/2006/relationships/image" Target="../media/image7.jpeg"  /><Relationship Id="rId5" Type="http://schemas.openxmlformats.org/officeDocument/2006/relationships/image" Target="../media/image8.jpeg"  /><Relationship Id="rId6" Type="http://schemas.openxmlformats.org/officeDocument/2006/relationships/image" Target="../media/image9.jpeg"  /><Relationship Id="rId7" Type="http://schemas.openxmlformats.org/officeDocument/2006/relationships/image" Target="../media/image10.jpeg"  /><Relationship Id="rId8" Type="http://schemas.openxmlformats.org/officeDocument/2006/relationships/image" Target="../media/image11.jpe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3.xml"  /><Relationship Id="rId3" Type="http://schemas.openxmlformats.org/officeDocument/2006/relationships/chart" Target="../charts/chart4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4.xml"  /><Relationship Id="rId3" Type="http://schemas.openxmlformats.org/officeDocument/2006/relationships/chart" Target="../charts/chart5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5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7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7.xml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8.xml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9.xml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30.xml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31.xml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4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BOOTCAMP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48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용접 결함 판정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20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사진 한 장으로 9가지 용접 결함의 종류와 위치를 찾아내는 YOLO 객체탐지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006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작성자  </a:t>
            </a:r>
            <a:r>
              <a:rPr sz="16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김인국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기간  </a:t>
            </a:r>
            <a:r>
              <a:rPr sz="16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2026.10.12 ~ 2026.11.04</a:t>
            </a:r>
          </a:p>
        </p:txBody>
      </p:sp>
      <p:pic>
        <p:nvPicPr>
          <p:cNvPr id="7" name="표지 이미지" descr="g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038785"/>
            <a:ext cx="4526280" cy="27804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CONTENTS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30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프로젝트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내용 요약 · 기간 · 참여자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60020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30168" y="1874519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30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51460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개발 동기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기획 배경 · 목표 · 결함 9종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60020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37375" y="1874519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30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5" y="251460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프로젝트 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5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개발 환경 · 기능 · 핵심 코드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0263" y="160020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44584" y="1874519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30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51460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주요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10.12 ~ 11.04 개발 일정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59" y="42062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30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8463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3035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정확도 · 그래프 · 시연 · 한계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55848" y="393192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630168" y="42062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30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48463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기대효과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0168" y="53035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현장 활용 효과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3055" y="3931920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37375" y="42062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30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5" y="48463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프로젝트 요약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5" y="53035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요약 · 어려움과 해결 · 느낀 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01 · 프로젝트 개요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용접 사진을 넣으면 AI가 결함을 찾아 표시합니다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94960" cy="4663440"/>
          </a:xfrm>
          <a:prstGeom prst="roundRect">
            <a:avLst>
              <a:gd name="adj" fmla="val 6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프로젝트 내용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754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45000"/>
              </a:lnSpc>
              <a:spcAft>
                <a:spcPts val="1400"/>
              </a:spcAft>
            </a:pPr>
            <a:r>
              <a:rPr sz="16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공개된 용접 결함 사진 데이터를 모아 </a:t>
            </a: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9가지 결함</a:t>
            </a:r>
            <a:r>
              <a:rPr sz="16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으로 정리했습니다.</a:t>
            </a:r>
          </a:p>
          <a:p>
            <a:pPr algn="l" eaLnBrk="0">
              <a:lnSpc>
                <a:spcPct val="145000"/>
              </a:lnSpc>
              <a:spcAft>
                <a:spcPts val="1400"/>
              </a:spcAft>
            </a:pPr>
            <a:r>
              <a:rPr sz="16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사진 속 물체의 종류와 위치를 함께 찾는 </a:t>
            </a: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YOLO 객체탐지 AI</a:t>
            </a:r>
            <a:r>
              <a:rPr sz="16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를 학습시켰습니다.</a:t>
            </a:r>
          </a:p>
          <a:p>
            <a:pPr algn="l" eaLnBrk="0">
              <a:lnSpc>
                <a:spcPct val="145000"/>
              </a:lnSpc>
              <a:spcAft>
                <a:spcPts val="1400"/>
              </a:spcAft>
            </a:pPr>
            <a:r>
              <a:rPr sz="16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담당자가 사진을 넣으면 </a:t>
            </a: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결함 종류 · 위치 · 신뢰도</a:t>
            </a:r>
            <a:r>
              <a:rPr sz="16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를 박스로 표시하는 판정 프로그램을 완성했습니다.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508760"/>
          <a:ext cx="5376671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001"/>
                <a:gridCol w="3763670"/>
              </a:tblGrid>
              <a:tr h="54864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09728" marR="109728" marT="36576" marB="36576" anchor="ctr">
                    <a:solidFill>
                      <a:srgbClr val="1721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09728" marR="109728" marT="36576" marB="36576" anchor="ctr">
                    <a:solidFill>
                      <a:srgbClr val="1721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프로젝트명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 결함 판정 AI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2026.10.12 ~ 2026.11.04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참여자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김인국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대상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 결함 9종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기술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YOLO11 객체탐지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Roboflow 공개 데이터 15종 통합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결과물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프로그램 + 학습 코드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02 · 프로젝트 개발 동기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눈으로 하는 외관 검사를 AI가 도울 수 없을까?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기획 배경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6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사람마다 판정이 다릅니다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3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외관 검사는 검사자의 경험과 숙련도에 크게 의존합니다.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6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결함 종류가 많고 비슷합니다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3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기공과 블로홀, 언더컷과 언더필처럼 헷갈리는 결함이 많습니다.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6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기록이 남기 어렵습니다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3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어디에 어떤 결함이 있었는지 사진으로 남기고 비교하기 번거롭습니다.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508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011680"/>
            <a:ext cx="5376672" cy="1188720"/>
          </a:xfrm>
          <a:prstGeom prst="roundRect">
            <a:avLst>
              <a:gd name="adj" fmla="val 6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537960" y="2286000"/>
            <a:ext cx="640080" cy="64008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945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결함 9종 데이터셋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60604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3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공개 데이터를 모아 직접 구축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383280"/>
            <a:ext cx="5376672" cy="1188720"/>
          </a:xfrm>
          <a:prstGeom prst="roundRect">
            <a:avLst>
              <a:gd name="adj" fmla="val 6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537960" y="3657600"/>
            <a:ext cx="640080" cy="64008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5661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결함 판정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97764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3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종류와 위치를 함께 찾도록 학습 · 검증 · 테스트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754880"/>
            <a:ext cx="5376672" cy="1188720"/>
          </a:xfrm>
          <a:prstGeom prst="roundRect">
            <a:avLst>
              <a:gd name="adj" fmla="val 6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6537960" y="5029200"/>
            <a:ext cx="640080" cy="64008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9377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 프로그램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34924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3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담당자가 사진만 넣으면 바로 판정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02 · 프로젝트 개발 동기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판정 대상: 용접 결함 9종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12064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결함 분류표" descr="w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93" y="1554480"/>
            <a:ext cx="4523533" cy="4572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463040"/>
          <a:ext cx="5696711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2947"/>
                <a:gridCol w="3873764"/>
              </a:tblGrid>
              <a:tr h="475488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</a:t>
                      </a:r>
                    </a:p>
                  </a:txBody>
                  <a:tcPr marL="109728" marR="109728" marT="36576" marB="36576" anchor="ctr">
                    <a:solidFill>
                      <a:srgbClr val="1721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쉽게 말하면</a:t>
                      </a:r>
                    </a:p>
                  </a:txBody>
                  <a:tcPr marL="109728" marR="109728" marT="36576" marB="36576" anchor="ctr">
                    <a:solidFill>
                      <a:srgbClr val="1721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용입부족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용접이 충분히 깊이 녹아들지 않음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균열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용접부에 금이 감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언더컷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용접선 옆 모재가 움푹 패임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언더필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용접이 덜 채워짐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아크스트라이크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용접봉이 닿아 모재 표면이 패임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기공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내부에 생긴 가스 기포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블로홀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표면으로 빠져나온 작은 구멍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스패터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튀어나와 붙은 금속 알갱이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오버랩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모재 위로 넘쳐 덮인 용접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200" b="1" i="0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03 · 프로젝트 내용</a:t>
            </a:r>
            <a:endParaRPr lang="ko-KR" altLang="en-US" sz="1200" b="1" i="0">
              <a:solidFill>
                <a:srgbClr val="a94a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2800" b="1" i="0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개발 환경</a:t>
            </a:r>
            <a:endParaRPr lang="ko-KR" altLang="en-US" sz="2800" b="1" i="0">
              <a:solidFill>
                <a:srgbClr val="1721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000" b="0" i="0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  <a:endParaRPr lang="ko-KR" altLang="en-US" sz="1000" b="0" i="0">
              <a:solidFill>
                <a:srgbClr val="5e687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000" b="0" i="0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lang="ko-KR" altLang="en-US" sz="1000" b="0" i="0">
              <a:solidFill>
                <a:srgbClr val="5e687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ko-KR" altLang="en-US"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lang="ko-KR" altLang="en-US" sz="2000" b="1" i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800" b="1" i="0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언어 · 라이브러리</a:t>
            </a:r>
            <a:endParaRPr lang="ko-KR" altLang="en-US" sz="1800" b="1" i="0">
              <a:solidFill>
                <a:srgbClr val="1721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30175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20000"/>
              </a:lnSpc>
              <a:spcAft>
                <a:spcPts val="80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Python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  <a:p>
            <a:pPr algn="l" eaLnBrk="0">
              <a:lnSpc>
                <a:spcPct val="120000"/>
              </a:lnSpc>
              <a:spcAft>
                <a:spcPts val="80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PyTorch (CUDA)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  <a:p>
            <a:pPr algn="l" eaLnBrk="0">
              <a:lnSpc>
                <a:spcPct val="120000"/>
              </a:lnSpc>
              <a:spcAft>
                <a:spcPts val="80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Ultralytics YOLO11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  <a:p>
            <a:pPr algn="l" eaLnBrk="0">
              <a:lnSpc>
                <a:spcPct val="120000"/>
              </a:lnSpc>
              <a:spcAft>
                <a:spcPts val="80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Pillow · Matplotlib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  <a:p>
            <a:pPr algn="l" eaLnBrk="0">
              <a:lnSpc>
                <a:spcPct val="120000"/>
              </a:lnSpc>
              <a:spcAft>
                <a:spcPts val="80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tkinter (화면 프로그램)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1" name="Oval 10"/>
          <p:cNvSpPr/>
          <p:nvPr/>
        </p:nvSpPr>
        <p:spPr>
          <a:xfrm>
            <a:off x="4617719" y="1828800"/>
            <a:ext cx="685800" cy="685800"/>
          </a:xfrm>
          <a:prstGeom prst="ellipse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ko-KR" altLang="en-US"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lang="ko-KR" altLang="en-US" sz="2000" b="1" i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17719" y="26974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800" b="1" i="0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하드웨어</a:t>
            </a:r>
            <a:endParaRPr lang="ko-KR" altLang="en-US" sz="1800" b="1" i="0">
              <a:solidFill>
                <a:srgbClr val="1721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7719" y="3291840"/>
            <a:ext cx="30175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20000"/>
              </a:lnSpc>
              <a:spcAft>
                <a:spcPts val="80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Windows 10 PC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  <a:p>
            <a:pPr algn="l" eaLnBrk="0">
              <a:lnSpc>
                <a:spcPct val="120000"/>
              </a:lnSpc>
              <a:spcAft>
                <a:spcPts val="80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Intel i7-9700 · RAM 16GB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  <a:p>
            <a:pPr algn="l" eaLnBrk="0">
              <a:lnSpc>
                <a:spcPct val="120000"/>
              </a:lnSpc>
              <a:spcAft>
                <a:spcPts val="80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GTX 1650 4GB (판정 · 테스트)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  <a:p>
            <a:pPr algn="l" eaLnBrk="0">
              <a:lnSpc>
                <a:spcPct val="120000"/>
              </a:lnSpc>
              <a:spcAft>
                <a:spcPts val="80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Google Colab T4 GPU (학습)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5" name="Oval 14"/>
          <p:cNvSpPr/>
          <p:nvPr/>
        </p:nvSpPr>
        <p:spPr>
          <a:xfrm>
            <a:off x="8366759" y="1828800"/>
            <a:ext cx="685800" cy="685800"/>
          </a:xfrm>
          <a:prstGeom prst="ellipse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ko-KR" altLang="en-US"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lang="ko-KR" altLang="en-US" sz="2000" b="1" i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59" y="26974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800" b="1" i="0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도구 · 데이터</a:t>
            </a:r>
            <a:endParaRPr lang="ko-KR" altLang="en-US" sz="1800" b="1" i="0">
              <a:solidFill>
                <a:srgbClr val="1721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66759" y="3291840"/>
            <a:ext cx="3017520" cy="1327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20000"/>
              </a:lnSpc>
              <a:spcAft>
                <a:spcPts val="80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VS Code + Colab 확장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  <a:p>
            <a:pPr algn="l" eaLnBrk="0">
              <a:lnSpc>
                <a:spcPct val="120000"/>
              </a:lnSpc>
              <a:spcAft>
                <a:spcPts val="80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Google Drive (결과 저장)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  <a:p>
            <a:pPr algn="l" eaLnBrk="0">
              <a:lnSpc>
                <a:spcPct val="120000"/>
              </a:lnSpc>
              <a:spcAft>
                <a:spcPts val="80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Roboflow Universe (공개 데이터)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  <a:p>
            <a:pPr algn="l" eaLnBrk="0">
              <a:lnSpc>
                <a:spcPct val="120000"/>
              </a:lnSpc>
              <a:spcAft>
                <a:spcPts val="800"/>
              </a:spcAft>
              <a:defRPr/>
            </a:pP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03 · 프로젝트 내용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전체 흐름: 데이터에서 판정 프로그램까지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965960" cy="2651760"/>
          </a:xfrm>
          <a:prstGeom prst="roundRect">
            <a:avLst>
              <a:gd name="adj" fmla="val 6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600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Roboflow 공개 데이터 24개 조사, 15개 선정</a:t>
            </a:r>
          </a:p>
        </p:txBody>
      </p:sp>
      <p:sp>
        <p:nvSpPr>
          <p:cNvPr id="10" name="Chevron 9"/>
          <p:cNvSpPr/>
          <p:nvPr/>
        </p:nvSpPr>
        <p:spPr>
          <a:xfrm>
            <a:off x="2542032" y="2816352"/>
            <a:ext cx="256032" cy="310896"/>
          </a:xfrm>
          <a:prstGeom prst="chevron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834640" y="1645920"/>
            <a:ext cx="1965960" cy="2651760"/>
          </a:xfrm>
          <a:prstGeom prst="roundRect">
            <a:avLst>
              <a:gd name="adj" fmla="val 6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063240" y="182880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46888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 · 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971800"/>
            <a:ext cx="1600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제각각인 결함 이름을 9종으로 통일, 중복 제거</a:t>
            </a:r>
          </a:p>
        </p:txBody>
      </p:sp>
      <p:sp>
        <p:nvSpPr>
          <p:cNvPr id="15" name="Chevron 14"/>
          <p:cNvSpPr/>
          <p:nvPr/>
        </p:nvSpPr>
        <p:spPr>
          <a:xfrm>
            <a:off x="4828032" y="2816352"/>
            <a:ext cx="256032" cy="310896"/>
          </a:xfrm>
          <a:prstGeom prst="chevron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120640" y="1645920"/>
            <a:ext cx="1965960" cy="2651760"/>
          </a:xfrm>
          <a:prstGeom prst="roundRect">
            <a:avLst>
              <a:gd name="adj" fmla="val 6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49240" y="182880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46888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학습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971800"/>
            <a:ext cx="1600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YOLO11이 결함 사진과 위치를 반복 학습</a:t>
            </a:r>
          </a:p>
        </p:txBody>
      </p:sp>
      <p:sp>
        <p:nvSpPr>
          <p:cNvPr id="20" name="Chevron 19"/>
          <p:cNvSpPr/>
          <p:nvPr/>
        </p:nvSpPr>
        <p:spPr>
          <a:xfrm>
            <a:off x="7114031" y="2816352"/>
            <a:ext cx="256032" cy="310896"/>
          </a:xfrm>
          <a:prstGeom prst="chevron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406640" y="1645920"/>
            <a:ext cx="1965960" cy="2651760"/>
          </a:xfrm>
          <a:prstGeom prst="roundRect">
            <a:avLst>
              <a:gd name="adj" fmla="val 6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35240" y="182880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46888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· 테스트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971800"/>
            <a:ext cx="1600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처음 보는 사진으로 결함별 정확도 측정</a:t>
            </a:r>
          </a:p>
        </p:txBody>
      </p:sp>
      <p:sp>
        <p:nvSpPr>
          <p:cNvPr id="25" name="Chevron 24"/>
          <p:cNvSpPr/>
          <p:nvPr/>
        </p:nvSpPr>
        <p:spPr>
          <a:xfrm>
            <a:off x="9400032" y="2816352"/>
            <a:ext cx="256032" cy="310896"/>
          </a:xfrm>
          <a:prstGeom prst="chevron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9692640" y="1645920"/>
            <a:ext cx="1965960" cy="2651760"/>
          </a:xfrm>
          <a:prstGeom prst="roundRect">
            <a:avLst>
              <a:gd name="adj" fmla="val 6000"/>
            </a:avLst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921240" y="182880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46888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6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판정 프로그램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971800"/>
            <a:ext cx="1600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사진을 넣으면 결함 위치를 박스로 표시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663440"/>
            <a:ext cx="11091672" cy="146304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8680" y="48920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5000"/>
              </a:lnSpc>
              <a:spcAft>
                <a:spcPts val="0"/>
              </a:spcAft>
            </a:pPr>
            <a:r>
              <a:rPr sz="16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객체탐지(YOLO)란?  </a:t>
            </a:r>
          </a:p>
          <a:p>
            <a:pPr algn="l" eaLnBrk="0">
              <a:lnSpc>
                <a:spcPct val="135000"/>
              </a:lnSpc>
              <a:spcAft>
                <a:spcPts val="0"/>
              </a:spcAft>
            </a:pPr>
            <a:r>
              <a:rPr sz="15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사진 한 장에서 “무엇이” “어디에” 있는지를 한 번에 찾는 AI입니다. 그래서 결함 종류뿐 아니라 위치까지 박스로 알려 줍니다.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03 · 프로젝트 내용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주요 기능과 코드 구성 (모듈 · 클래스)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91671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501"/>
                <a:gridCol w="2218334"/>
                <a:gridCol w="5545836"/>
              </a:tblGrid>
              <a:tr h="45720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(모듈)</a:t>
                      </a:r>
                    </a:p>
                  </a:txBody>
                  <a:tcPr marL="109728" marR="109728" marT="36576" marB="36576" anchor="ctr">
                    <a:solidFill>
                      <a:srgbClr val="1721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클래스</a:t>
                      </a:r>
                    </a:p>
                  </a:txBody>
                  <a:tcPr marL="109728" marR="109728" marT="36576" marB="36576" anchor="ctr">
                    <a:solidFill>
                      <a:srgbClr val="1721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하는 일</a:t>
                      </a:r>
                    </a:p>
                  </a:txBody>
                  <a:tcPr marL="109728" marR="109728" marT="36576" marB="36576" anchor="ctr">
                    <a:solidFill>
                      <a:srgbClr val="1721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main.py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시작점: 화면 · 학습 · 평가 · 판정 명령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weld_defect/config.py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Config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 9종 정의, 경로, 학습 · 증강 설정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weld_defect/trainer.py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DefectTrainer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 모델 학습, 최종 모델 저장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weld_defect/evaluator.py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DefectEvaluator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· 테스트, 결함별 정확도 표 · 그래프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weld_defect/detector.py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DefectDetector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사진 판정, 번호 · 색 박스 그리기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weld_defect/app.py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DefectApp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담당자용 판정 프로그램 화면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tools/build_dataset.py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다운로드 · 9종 통일 · 분할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eaLnBrk="0"/>
                      <a:r>
                        <a:rPr sz="14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colab_train.ipynb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4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Colab GPU 학습 노트북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806440"/>
            <a:ext cx="3520440" cy="41148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3520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판정프로그램.bat 더블클릭 실행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9" y="5806440"/>
            <a:ext cx="2606040" cy="41148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251959" y="5806440"/>
            <a:ext cx="2606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사진 · 폴더 단위 판정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79" y="5806440"/>
            <a:ext cx="1874519" cy="41148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040879" y="580644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결과 이미지 저장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5806440"/>
            <a:ext cx="1874519" cy="41148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98280" y="580644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신뢰도 기준 조절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03 · 프로젝트 내용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데이터셋 구축: 흩어진 공개 데이터를 하나로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1672" cy="1143000"/>
          </a:xfrm>
          <a:prstGeom prst="roundRect">
            <a:avLst>
              <a:gd name="adj" fmla="val 6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277063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>
              <a:lnSpc>
                <a:spcPct val="115000"/>
              </a:lnSpc>
              <a:spcAft>
                <a:spcPts val="0"/>
              </a:spcAft>
            </a:pPr>
            <a:r>
              <a:rPr sz="30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15개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>
              <a:lnSpc>
                <a:spcPct val="115000"/>
              </a:lnSpc>
              <a:spcAft>
                <a:spcPts val="0"/>
              </a:spcAft>
            </a:pPr>
            <a:r>
              <a:rPr sz="13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통합한 공개 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1536192"/>
            <a:ext cx="277063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>
              <a:lnSpc>
                <a:spcPct val="115000"/>
              </a:lnSpc>
              <a:spcAft>
                <a:spcPts val="0"/>
              </a:spcAft>
            </a:pPr>
            <a:r>
              <a:rPr sz="30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9종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2148840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>
              <a:lnSpc>
                <a:spcPct val="115000"/>
              </a:lnSpc>
              <a:spcAft>
                <a:spcPts val="0"/>
              </a:spcAft>
            </a:pPr>
            <a:r>
              <a:rPr sz="13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통일한 결함 이름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9903" y="1536192"/>
            <a:ext cx="277063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>
              <a:lnSpc>
                <a:spcPct val="115000"/>
              </a:lnSpc>
              <a:spcAft>
                <a:spcPts val="0"/>
              </a:spcAft>
            </a:pPr>
            <a:r>
              <a:rPr sz="30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약 6,200장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9903" y="2148840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>
              <a:lnSpc>
                <a:spcPct val="115000"/>
              </a:lnSpc>
              <a:spcAft>
                <a:spcPts val="0"/>
              </a:spcAft>
            </a:pPr>
            <a:r>
              <a:rPr sz="13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1차 데이터셋 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0536" y="1536192"/>
            <a:ext cx="277063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>
              <a:lnSpc>
                <a:spcPct val="115000"/>
              </a:lnSpc>
              <a:spcAft>
                <a:spcPts val="0"/>
              </a:spcAft>
            </a:pPr>
            <a:r>
              <a:rPr sz="30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70 : 15 :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0536" y="2148840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eaLnBrk="0">
              <a:lnSpc>
                <a:spcPct val="115000"/>
              </a:lnSpc>
              <a:spcAft>
                <a:spcPts val="0"/>
              </a:spcAft>
            </a:pPr>
            <a:r>
              <a:rPr sz="13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학습 : 검증 : 테스트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48640" y="2788920"/>
          <a:ext cx="694944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726679" y="2788920"/>
            <a:ext cx="3913632" cy="105156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55279" y="2907791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4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이름 통일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227832"/>
            <a:ext cx="3520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0000"/>
              </a:lnSpc>
              <a:spcAft>
                <a:spcPts val="0"/>
              </a:spcAft>
            </a:pPr>
            <a:r>
              <a:rPr sz="11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“Spatters”, “Splatter”, 중국어 “咬边(언더컷)”처럼 제각각인 이름을 9종으로 맞춤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3977639"/>
            <a:ext cx="3913632" cy="105156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955279" y="4096511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4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공정한 시험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416552"/>
            <a:ext cx="3520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0000"/>
              </a:lnSpc>
              <a:spcAft>
                <a:spcPts val="0"/>
              </a:spcAft>
            </a:pPr>
            <a:r>
              <a:rPr sz="11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같은 사진 · 영상의 연속 장면은 한 묶음으로 처리해 학습용과 시험용에 섞이지 않게 분리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5166360"/>
            <a:ext cx="3913632" cy="105156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955279" y="5285232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4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사진 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5605272"/>
            <a:ext cx="3520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0000"/>
              </a:lnSpc>
              <a:spcAft>
                <a:spcPts val="0"/>
              </a:spcAft>
            </a:pPr>
            <a:r>
              <a:rPr sz="11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결함별로 잘라 눈으로 확인, 용입부족은 외관 사진이 없어 X-ray로 보완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03 · 프로젝트 내용 · 핵심 코드 ①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데이터 정리: 제각각인 결함 이름을 9종으로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6766560" cy="4754880"/>
          </a:xfrm>
          <a:prstGeom prst="roundRect">
            <a:avLst>
              <a:gd name="adj" fmla="val 3000"/>
            </a:avLst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100" b="0" i="0" lang="ko-KR" altLang="en-US">
                <a:solidFill>
                  <a:srgbClr val="9AA8B5"/>
                </a:solidFill>
                <a:latin typeface="Consolas"/>
                <a:ea typeface="Consolas"/>
                <a:cs typeface="Consolas"/>
              </a:rPr>
              <a:t>sources.yaml · build_dataset.py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6309360" cy="411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data/sources.yaml (발췌)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sources: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- slug: oran-ai/visual-weld-inspector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version: 12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class_map:        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원본 이름 -&gt; 9종 결함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Underfill: underfill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Arc Strike: arc_strike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Pin Hole: blowhole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표면의 작은 가스 구멍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Spatter: spatter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Lack Of Fusion: null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9종이 아님 -&gt; 제외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tools/build_dataset.py (발췌)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def group_key(stem):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"""Roboflow 증강 사본을 원본 단위로 묶는다."""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base = stem.split(".rf.")[0]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return re.sub(r"_(jpg|jpeg|png|bmp|webp)$", "", base)</a:t>
            </a:r>
          </a:p>
        </p:txBody>
      </p:sp>
      <p:sp>
        <p:nvSpPr>
          <p:cNvPr id="9" name="Oval 8"/>
          <p:cNvSpPr/>
          <p:nvPr/>
        </p:nvSpPr>
        <p:spPr>
          <a:xfrm>
            <a:off x="7589520" y="1508760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4630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어떤 데이터를 쓸지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847088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Roboflow 공개 데이터 15개를 목록으로 관리합니다.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0" y="2715768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67004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이름 바꾸기 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054096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데이터마다 다른 결함 이름을 우리 기준 9종으로 바꿉니다.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3922776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877056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9종이 아니면 제외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261104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null로 표시한 결함은 학습에서 뺍니다.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0" y="5129784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08406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같은 사진 묶기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468112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변형된 사본을 원본과 한 묶음으로 처리해 시험 누수를 막습니다.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03 · 프로젝트 내용 · 핵심 코드 ②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AI 학습: YOLO11 모델 학습시키기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6766560" cy="4754880"/>
          </a:xfrm>
          <a:prstGeom prst="roundRect">
            <a:avLst>
              <a:gd name="adj" fmla="val 3000"/>
            </a:avLst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100" b="0" i="0" lang="ko-KR" altLang="en-US">
                <a:solidFill>
                  <a:srgbClr val="9AA8B5"/>
                </a:solidFill>
                <a:latin typeface="Consolas"/>
                <a:ea typeface="Consolas"/>
                <a:cs typeface="Consolas"/>
              </a:rPr>
              <a:t>weld_defect/trainer.py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6309360" cy="411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weld_defect/trainer.py (발췌)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class DefectTrainer: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def train(self, resume=False):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c = self.cfg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model = YOLO(c.base_model)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yolo11s.pt (사전학습)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model.train(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    data=str(c.data_yaml),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9종 데이터셋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    epochs=c.epochs,      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최대 반복 횟수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    patience=c.patience,  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개선 없으면 조기 종료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    imgsz=c.imgsz,        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640px 로 맞춰 학습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    batch=c.batch,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    cos_lr=True,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    **c.augment,          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회전 · 색감 · 크기 변형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)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best = c.runs_dir / c.run_name / "weights" / "best.pt"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shutil.copy2(best, c.best_model)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최종 모델 저장</a:t>
            </a:r>
          </a:p>
        </p:txBody>
      </p:sp>
      <p:sp>
        <p:nvSpPr>
          <p:cNvPr id="9" name="Oval 8"/>
          <p:cNvSpPr/>
          <p:nvPr/>
        </p:nvSpPr>
        <p:spPr>
          <a:xfrm>
            <a:off x="7589520" y="1508760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4630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사전학습 모델에서 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847088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이미 일반 사물을 배운 YOLO11s에 용접 결함을 추가로 가르칩니다.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0" y="2715768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67004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반복 학습 + 조기 종료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054096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정해진 횟수만큼 반복하되, 좋아지지 않으면 스스로 멈춥니다.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3922776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877056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사진 변형(증강)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261104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돌리고 색을 바꾼 사진도 보여 줘 다양한 환경에 대비합니다.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0" y="5129784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08406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가장 좋은 모델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468112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검증 점수가 가장 높았던 모델을 판정 프로그램에 씁니다.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03 · 프로젝트 내용 · 핵심 코드 ③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평가: 결함별 판정 정확도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6766560" cy="4754880"/>
          </a:xfrm>
          <a:prstGeom prst="roundRect">
            <a:avLst>
              <a:gd name="adj" fmla="val 3000"/>
            </a:avLst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100" b="0" i="0" lang="ko-KR" altLang="en-US">
                <a:solidFill>
                  <a:srgbClr val="9AA8B5"/>
                </a:solidFill>
                <a:latin typeface="Consolas"/>
                <a:ea typeface="Consolas"/>
                <a:cs typeface="Consolas"/>
              </a:rPr>
              <a:t>weld_defect/evaluator.py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6309360" cy="411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weld_defect/evaluator.py (발췌)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for r in results:                  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테스트 사진 한 장씩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gt = {정답 결함 번호들}         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라벨 파일에서 읽기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pred = {int(x) for x in r.boxes.cls.tolist()}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for cid in stats:              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결함 9종마다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if cid in gt and cid in pred: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    stats[cid]["tp"] += 1  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찾음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elif cid in gt: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    stats[cid]["fn"] += 1  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놓침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elif cid in pred: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    stats[cid]["fp"] += 1  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헛경보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recall = tp / (tp + fn) 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판정 정확도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precision = tp / (tp + fp)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판정 정밀도</a:t>
            </a:r>
          </a:p>
        </p:txBody>
      </p:sp>
      <p:sp>
        <p:nvSpPr>
          <p:cNvPr id="9" name="Oval 8"/>
          <p:cNvSpPr/>
          <p:nvPr/>
        </p:nvSpPr>
        <p:spPr>
          <a:xfrm>
            <a:off x="7589520" y="1508760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4630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처음 보는 사진으로 시험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847088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학습에 쓰지 않은 테스트 사진만 사용합니다.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0" y="2715768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67004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사진마다 채점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054096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정답 결함과 AI가 찾은 결함을 비교합니다.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3922776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877056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찾음 · 놓침 · 헛경보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261104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결함 9종마다 세 가지 경우를 셉니다.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0" y="5129784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08406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두 가지 점수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468112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놓치지 않는 능력(정확도)과 헛경보가 적은 능력(정밀도)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03 · 프로젝트 내용 · 핵심 코드 ④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판정: 사진 한 장에서 결함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6766560" cy="4754880"/>
          </a:xfrm>
          <a:prstGeom prst="roundRect">
            <a:avLst>
              <a:gd name="adj" fmla="val 3000"/>
            </a:avLst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100" b="0" i="0" lang="ko-KR" altLang="en-US">
                <a:solidFill>
                  <a:srgbClr val="9AA8B5"/>
                </a:solidFill>
                <a:latin typeface="Consolas"/>
                <a:ea typeface="Consolas"/>
                <a:cs typeface="Consolas"/>
              </a:rPr>
              <a:t>weld_defect/detector.py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6309360" cy="411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weld_defect/detector.py (발췌)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def predict(self, image_path):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img = self._load(image_path)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r = self.model.predict(img, conf=self.cfg.conf,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                   iou=self.cfg.iou)[0]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dets = []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for cls, conf, xyxy in zip(r.boxes.cls.tolist(),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                       r.boxes.conf.tolist(),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                       r.boxes.xyxy.tolist()):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c = CLASSES[int(cls)]       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결함 번호 -&gt; 한글 이름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dets.append(Detection(c.id, c.name, c.ko,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                          conf, tuple(xyxy)))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dets.sort(key=lambda d: -d.conf)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신뢰도 높은 순</a:t>
            </a:r>
          </a:p>
          <a:p>
            <a:pPr>
              <a:lnSpc>
                <a:spcPct val="110000"/>
              </a:lnSpc>
            </a:pPr>
            <a:r>
              <a:rPr sz="1200" b="0" i="0" lang="ko-KR" altLang="en-US">
                <a:solidFill>
                  <a:srgbClr val="E6E9EC"/>
                </a:solidFill>
                <a:latin typeface="Consolas"/>
                <a:ea typeface="Consolas"/>
                <a:cs typeface="Consolas"/>
              </a:rPr>
              <a:t>    return Verdict(image_path, dets)    </a:t>
            </a:r>
            <a:r>
              <a:rPr sz="1200" b="0" i="0" lang="ko-KR" altLang="en-US">
                <a:solidFill>
                  <a:srgbClr val="8FB3A0"/>
                </a:solidFill>
                <a:latin typeface="Consolas"/>
                <a:ea typeface="Consolas"/>
                <a:cs typeface="Consolas"/>
              </a:rPr>
              <a:t># 대표 결함 + 위치</a:t>
            </a:r>
          </a:p>
        </p:txBody>
      </p:sp>
      <p:sp>
        <p:nvSpPr>
          <p:cNvPr id="9" name="Oval 8"/>
          <p:cNvSpPr/>
          <p:nvPr/>
        </p:nvSpPr>
        <p:spPr>
          <a:xfrm>
            <a:off x="7589520" y="1508760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4630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사진을 AI에 넣기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847088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학습된 모델이 결함 후보와 위치를 찾습니다.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0" y="2715768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67004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신뢰도 기준 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054096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기본 25% 이상 확신하는 결함만 남깁니다.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3922776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877056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한글 결함명으로 변환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261104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번호를 '언더컷'처럼 사람이 읽는 이름으로 바꿉니다.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0" y="5129784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08406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결과 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468112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신뢰도 순으로 번호를 매겨 화면과 이미지에 표시합니다.</a:t>
            </a:r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200" b="1" i="0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04 · 주요 일정</a:t>
            </a:r>
            <a:endParaRPr lang="ko-KR" altLang="en-US" sz="1200" b="1" i="0">
              <a:solidFill>
                <a:srgbClr val="a94a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2800" b="1" i="0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개발 일정 (2026.10.12 ~ 11.04)</a:t>
            </a:r>
            <a:endParaRPr lang="ko-KR" altLang="en-US" sz="2800" b="1" i="0">
              <a:solidFill>
                <a:srgbClr val="1721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000" b="0" i="0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  <a:endParaRPr lang="ko-KR" altLang="en-US" sz="1000" b="0" i="0">
              <a:solidFill>
                <a:srgbClr val="5e687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000" b="0" i="0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lang="ko-KR" altLang="en-US" sz="1000" b="0" i="0">
              <a:solidFill>
                <a:srgbClr val="5e687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49039" y="14813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100" b="0" i="0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10.12</a:t>
            </a:r>
            <a:endParaRPr lang="ko-KR" altLang="en-US" sz="1100" b="0" i="0">
              <a:solidFill>
                <a:srgbClr val="5e6873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749039" y="1783080"/>
            <a:ext cx="0" cy="4114800"/>
          </a:xfrm>
          <a:prstGeom prst="line">
            <a:avLst/>
          </a:prstGeom>
          <a:ln>
            <a:solidFill>
              <a:srgbClr val="e1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50661" y="14813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100" b="0" i="0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10.19</a:t>
            </a:r>
            <a:endParaRPr lang="ko-KR" altLang="en-US" sz="1100" b="0" i="0">
              <a:solidFill>
                <a:srgbClr val="5e6873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050661" y="1783080"/>
            <a:ext cx="0" cy="4114800"/>
          </a:xfrm>
          <a:prstGeom prst="line">
            <a:avLst/>
          </a:prstGeom>
          <a:ln>
            <a:solidFill>
              <a:srgbClr val="e1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52282" y="14813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100" b="0" i="0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10.26</a:t>
            </a:r>
            <a:endParaRPr lang="ko-KR" altLang="en-US" sz="1100" b="0" i="0">
              <a:solidFill>
                <a:srgbClr val="5e6873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8352282" y="1783080"/>
            <a:ext cx="0" cy="4114800"/>
          </a:xfrm>
          <a:prstGeom prst="line">
            <a:avLst/>
          </a:prstGeom>
          <a:ln>
            <a:solidFill>
              <a:srgbClr val="e1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653903" y="14813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100" b="0" i="0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11.2</a:t>
            </a:r>
            <a:endParaRPr lang="ko-KR" altLang="en-US" sz="1100" b="0" i="0">
              <a:solidFill>
                <a:srgbClr val="5e6873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0653903" y="1783080"/>
            <a:ext cx="0" cy="4114800"/>
          </a:xfrm>
          <a:prstGeom prst="line">
            <a:avLst/>
          </a:prstGeom>
          <a:ln>
            <a:solidFill>
              <a:srgbClr val="e1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091672" y="14813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100" b="0" i="0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11.4</a:t>
            </a:r>
            <a:endParaRPr lang="ko-KR" altLang="en-US" sz="1100" b="0" i="0">
              <a:solidFill>
                <a:srgbClr val="5e687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1920239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300" b="1" i="0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기획 · 결함 기준 조사</a:t>
            </a:r>
            <a:endParaRPr lang="ko-KR" altLang="en-US" sz="1300" b="1" i="0">
              <a:solidFill>
                <a:srgbClr val="1721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749039" y="1874519"/>
            <a:ext cx="1644015" cy="38404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48640" y="24871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300" b="1" i="0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데이터셋 구축 · 코드 작성</a:t>
            </a:r>
            <a:endParaRPr lang="ko-KR" altLang="en-US" sz="1300" b="1" i="0">
              <a:solidFill>
                <a:srgbClr val="1721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393055" y="2441448"/>
            <a:ext cx="329184" cy="38404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548640" y="305409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300" b="1" i="0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1차 학습(v1) · 평가</a:t>
            </a:r>
            <a:endParaRPr lang="ko-KR" altLang="en-US" sz="1300" b="1" i="0">
              <a:solidFill>
                <a:srgbClr val="1721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393055" y="3008376"/>
            <a:ext cx="329184" cy="38404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8640" y="3621023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300" b="1" i="0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결과 분석 · 개선(v2)</a:t>
            </a:r>
            <a:endParaRPr lang="ko-KR" altLang="en-US" sz="1300" b="1" i="0">
              <a:solidFill>
                <a:srgbClr val="1721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721858" y="3575303"/>
            <a:ext cx="329184" cy="38404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548640" y="4187951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300" b="1" i="0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보고서 작성 · 학습 시간 단축 검토</a:t>
            </a:r>
            <a:endParaRPr lang="ko-KR" altLang="en-US" sz="1300" b="1" i="0">
              <a:solidFill>
                <a:srgbClr val="1721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050661" y="4142231"/>
            <a:ext cx="1972818" cy="38404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548640" y="47548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300" b="1" i="0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v2 재학습 (Colab)</a:t>
            </a:r>
            <a:endParaRPr lang="ko-KR" altLang="en-US" sz="1300" b="1" i="0">
              <a:solidFill>
                <a:srgbClr val="1721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023478" y="4709160"/>
            <a:ext cx="2301621" cy="38404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548640" y="5321807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300" b="1" i="0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v2 평가 · 최종 제출 준비</a:t>
            </a:r>
            <a:endParaRPr lang="ko-KR" altLang="en-US" sz="1300" b="1" i="0">
              <a:solidFill>
                <a:srgbClr val="1721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100" b="0" i="0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10.17 ~ 10.18은 하루 단위 작업(데이터 · 코드 · 학습 · 개선)이 몰려 막대가 짧게 표시됩니다.</a:t>
            </a:r>
            <a:endParaRPr lang="ko-KR" altLang="en-US" sz="1100" b="0" i="0">
              <a:solidFill>
                <a:srgbClr val="5e6873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05 · 프로젝트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결과를 보기 전에: 점수 읽는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6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AI가 </a:t>
            </a:r>
            <a:r>
              <a:rPr sz="16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학습할 때 한 번도 보지 않은 사진(테스트용 약 900장)</a:t>
            </a:r>
            <a:r>
              <a:rPr sz="16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으로 시험을 봤습니다.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546811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22959" y="2331720"/>
            <a:ext cx="502920" cy="502920"/>
          </a:xfrm>
          <a:prstGeom prst="ellipse">
            <a:avLst/>
          </a:prstGeom>
          <a:solidFill>
            <a:srgbClr val="A94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5000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판정 정확도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88036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그 결함이 있는 사진 중 AI가 그 결함을 찾아낸 비율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8328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3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예) 90% = 균열 사진 10장 중 9장을 찾음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57400"/>
            <a:ext cx="546811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5000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판정 정밀도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AI가 “균열”이라고 한 것 중 진짜 균열인 비율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38328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300" b="1" i="0" lang="ko-KR" altLang="en-US">
                <a:solidFill>
                  <a:srgbClr val="2B5C8A"/>
                </a:solidFill>
                <a:latin typeface="맑은 고딕"/>
                <a:ea typeface="맑은 고딕"/>
                <a:cs typeface="맑은 고딕"/>
              </a:rPr>
              <a:t>높을수록 헛경보가 적음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546811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22959" y="4434840"/>
            <a:ext cx="502920" cy="502920"/>
          </a:xfrm>
          <a:prstGeom prst="ellipse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45312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mAP50 (위치 점수)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8348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결함의 위치 박스까지 맞혔는지 보는 종합 점수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4864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3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정답 박스와 절반 이상 겹치면 맞힌 것으로 계산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160520"/>
            <a:ext cx="546811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446520" y="4434840"/>
            <a:ext cx="502920" cy="502920"/>
          </a:xfrm>
          <a:prstGeom prst="ellipse">
            <a:avLst/>
          </a:prstGeom>
          <a:solidFill>
            <a:srgbClr val="5E6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45312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신뢰도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98348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AI가 스스로 얼마나 확신하는지(0~100%)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4864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300" b="1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판정 프로그램은 기본 25% 이상만 표시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05 · 프로젝트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결함별 판정 정확도와 위치 점수 (테스트 사진)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17320"/>
          <a:ext cx="78638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41080" y="1417320"/>
            <a:ext cx="2999232" cy="2103120"/>
          </a:xfrm>
          <a:prstGeom prst="roundRect">
            <a:avLst>
              <a:gd name="adj" fmla="val 6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0" y="160020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3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전체 위치 점수 (mAP50)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96596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44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60.9%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880360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9종 평균, 박스 위치까지 맞힌 정도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703320"/>
            <a:ext cx="2999232" cy="256032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69680" y="3886200"/>
            <a:ext cx="26060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600"/>
              </a:spcAft>
            </a:pPr>
            <a:r>
              <a:rPr sz="1200" b="1" i="0" lang="ko-KR" altLang="en-US">
                <a:solidFill>
                  <a:srgbClr val="2B5C8A"/>
                </a:solidFill>
                <a:latin typeface="맑은 고딕"/>
                <a:ea typeface="맑은 고딕"/>
                <a:cs typeface="맑은 고딕"/>
              </a:rPr>
              <a:t>잘 찾음 (80% 이상)</a:t>
            </a:r>
          </a:p>
          <a:p>
            <a:pPr algn="l" eaLnBrk="0">
              <a:lnSpc>
                <a:spcPct val="125000"/>
              </a:lnSpc>
              <a:spcAft>
                <a:spcPts val="60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언더필 97 · 균열 90 · 아크스트라이크 89 · 스패터 83 · 언더컷 80</a:t>
            </a:r>
          </a:p>
          <a:p>
            <a:pPr algn="l" eaLnBrk="0">
              <a:lnSpc>
                <a:spcPct val="125000"/>
              </a:lnSpc>
              <a:spcAft>
                <a:spcPts val="60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개선 필요</a:t>
            </a:r>
          </a:p>
          <a:p>
            <a:pPr algn="l" eaLnBrk="0">
              <a:lnSpc>
                <a:spcPct val="125000"/>
              </a:lnSpc>
              <a:spcAft>
                <a:spcPts val="60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기공 66 · 용입부족 50 · 오버랩 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05 · 프로젝트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학습 과정: 반복할수록 똑똑해진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17320"/>
          <a:ext cx="758952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66760" y="1463040"/>
            <a:ext cx="32918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시작 </a:t>
            </a:r>
            <a:r>
              <a:rPr sz="14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14%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처음엔 결함을 거의 못 찾았습니다.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최고 </a:t>
            </a:r>
            <a:r>
              <a:rPr sz="14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58.2% (62회)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사진을 반복해 볼수록 점수가 올라 50회쯤 58% 근처에 도달했습니다.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자동 종료 </a:t>
            </a:r>
            <a:r>
              <a:rPr sz="14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71회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그 뒤로 더 좋아지지 않아 스스로 학습을 멈췄습니다(조기 종료).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4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엄격한 점수(주황)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박스 테두리까지 정확한지 보는 점수로, 약 30%입니다.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05 · 프로젝트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결과 해석: 무엇이 점수를 갈랐나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338328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2B5C8A"/>
                </a:solidFill>
                <a:latin typeface="맑은 고딕"/>
                <a:ea typeface="맑은 고딕"/>
                <a:cs typeface="맑은 고딕"/>
              </a:rPr>
              <a:t>잘 찾는 결함 (80~97%)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언더필 · 균열 · 아크스트라이크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4892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80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• 모양이 뚜렷함: 금(균열), 둥글게 패인 자국(아크스트라이크)</a:t>
            </a:r>
          </a:p>
          <a:p>
            <a:pPr algn="l" eaLnBrk="0">
              <a:lnSpc>
                <a:spcPct val="130000"/>
              </a:lnSpc>
              <a:spcAft>
                <a:spcPts val="80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• 학습 사진이 충분함: 균열은 1,000장 이상</a:t>
            </a:r>
          </a:p>
          <a:p>
            <a:pPr algn="l" eaLnBrk="0">
              <a:lnSpc>
                <a:spcPct val="130000"/>
              </a:lnSpc>
              <a:spcAft>
                <a:spcPts val="80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• 결함이 커서 사진을 줄여도 형태가 남음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63040"/>
            <a:ext cx="5440680" cy="338328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9672" y="169164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8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어려운 결함 (0~66%)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240280"/>
            <a:ext cx="48920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800"/>
              </a:spcAft>
            </a:pPr>
            <a:r>
              <a:rPr sz="14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• 오버랩 0%: </a:t>
            </a: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학습 사진이 약 50장뿐</a:t>
            </a:r>
          </a:p>
          <a:p>
            <a:pPr algn="l" eaLnBrk="0">
              <a:lnSpc>
                <a:spcPct val="130000"/>
              </a:lnSpc>
              <a:spcAft>
                <a:spcPts val="800"/>
              </a:spcAft>
            </a:pPr>
            <a:r>
              <a:rPr sz="14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• 용입부족 50%: </a:t>
            </a: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외관 사진 공개 데이터가 없어 X-ray 사진으로 대체</a:t>
            </a:r>
          </a:p>
          <a:p>
            <a:pPr algn="l" eaLnBrk="0">
              <a:lnSpc>
                <a:spcPct val="130000"/>
              </a:lnSpc>
              <a:spcAft>
                <a:spcPts val="800"/>
              </a:spcAft>
            </a:pPr>
            <a:r>
              <a:rPr sz="14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• 기공 66%: </a:t>
            </a: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구멍이 매우 작아 사진을 줄이면 몇 픽셀로 뭉개짐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74920"/>
            <a:ext cx="11091672" cy="1143000"/>
          </a:xfrm>
          <a:prstGeom prst="roundRect">
            <a:avLst>
              <a:gd name="adj" fmla="val 6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105156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00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결론: 성능을 좌우한 것은 AI 모델보다 </a:t>
            </a:r>
            <a:r>
              <a:rPr sz="20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데이터의 양과 질</a:t>
            </a:r>
            <a:r>
              <a:rPr sz="200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이었습니다.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05 · 프로젝트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혼동행렬: AI는 무엇을 무엇으로 헷갈렸나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667512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혼동행렬" descr="tes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" y="1463040"/>
            <a:ext cx="6339839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463040"/>
            <a:ext cx="41605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6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읽는 법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3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가로 = 정답 결함, 세로 = AI 판정. 대각선(왼쪽 위 → 오른쪽 아래)이 진할수록 정확합니다.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600" b="1" i="0" lang="ko-KR" altLang="en-US">
                <a:solidFill>
                  <a:srgbClr val="2B5C8A"/>
                </a:solidFill>
                <a:latin typeface="맑은 고딕"/>
                <a:ea typeface="맑은 고딕"/>
                <a:cs typeface="맑은 고딕"/>
              </a:rPr>
              <a:t>잘 맞힘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3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균열 94% · 용입부족 93% · 스패터 88% · 언더컷 80%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6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헷갈림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3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오버랩은 15%만 맞히고 38%는 배경으로 놓침. 언더필 일부(25%)는 기공으로 판정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6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영어 이름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3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incomplete_penetration 용입부족 · crack 균열 · undercut 언더컷 · underfill 언더필 · arc_strike 아크스트라이크 · porosity 기공 · blowhole 블로홀 · spatter 스패터 · overlap 오버랩 · background 배경(결함 없음)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05 · 프로젝트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정답과 AI 판정 비교 (검증 사진 16장)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68112" cy="411480"/>
          </a:xfrm>
          <a:prstGeom prst="roundRect">
            <a:avLst>
              <a:gd name="adj" fmla="val 15000"/>
            </a:avLst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6811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eaLnBrk="0">
              <a:lnSpc>
                <a:spcPct val="115000"/>
              </a:lnSpc>
              <a:spcAft>
                <a:spcPts val="0"/>
              </a:spcAft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 (사람이 표시)</a:t>
            </a:r>
          </a:p>
        </p:txBody>
      </p:sp>
      <p:pic>
        <p:nvPicPr>
          <p:cNvPr id="8" name="정답 (사람이 표시)" descr="val_batch0_labe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07222"/>
            <a:ext cx="5468112" cy="41694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417320"/>
            <a:ext cx="5468112" cy="411480"/>
          </a:xfrm>
          <a:prstGeom prst="roundRect">
            <a:avLst>
              <a:gd name="adj" fmla="val 15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72200" y="1417320"/>
            <a:ext cx="546811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eaLnBrk="0">
              <a:lnSpc>
                <a:spcPct val="115000"/>
              </a:lnSpc>
              <a:spcAft>
                <a:spcPts val="0"/>
              </a:spcAft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판정 (숫자 = 신뢰도)</a:t>
            </a:r>
          </a:p>
        </p:txBody>
      </p:sp>
      <p:pic>
        <p:nvPicPr>
          <p:cNvPr id="11" name="AI 판정 (숫자 = 신뢰도)" descr="val_batch0_p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007222"/>
            <a:ext cx="5468112" cy="41694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05 · 프로젝트 결과 · 시연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판정 프로그램 실행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pic>
        <p:nvPicPr>
          <p:cNvPr id="6" name="판정 프로그램 화면" descr="g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7498"/>
            <a:ext cx="7498079" cy="4605963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321040" y="1463040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144475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사진 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792224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판정할 사진(여러 장 가능)이나 폴더 선택</a:t>
            </a:r>
          </a:p>
        </p:txBody>
      </p:sp>
      <p:sp>
        <p:nvSpPr>
          <p:cNvPr id="10" name="Oval 9"/>
          <p:cNvSpPr/>
          <p:nvPr/>
        </p:nvSpPr>
        <p:spPr>
          <a:xfrm>
            <a:off x="8321040" y="2414016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3957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판정 목록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7432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사진마다 대표 결함과 신뢰도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3364992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34670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결함 위치 박스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369417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번호 · 결함명 · 신뢰도를 사진 위에 표시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0" y="4315968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2976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결과 설명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464515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결함 종류별 개수와 위치 좌표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0" y="5266944"/>
            <a:ext cx="457200" cy="4572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52486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결과 이미지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559612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박스가 그려진 사진을 기록으로 보관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05 · 프로젝트 결과 · 시연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결함별 판정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3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박스 색 = 결함 종류 · #번호 = 신뢰도 높은 순 · % = AI가 확신하는 정도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593592" cy="1874519"/>
          </a:xfrm>
          <a:prstGeom prst="roundRect">
            <a:avLst>
              <a:gd name="adj" fmla="val 4000"/>
            </a:avLst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균열 63%" descr="demo_c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5" y="1737360"/>
            <a:ext cx="1783080" cy="1783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611880"/>
            <a:ext cx="3593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균열 63%</a:t>
            </a: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  금이 간 선 전체를 감쌈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91640"/>
            <a:ext cx="3593592" cy="1874519"/>
          </a:xfrm>
          <a:prstGeom prst="roundRect">
            <a:avLst>
              <a:gd name="adj" fmla="val 4000"/>
            </a:avLst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언더컷 73%" descr="demo_undercu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36" y="1737360"/>
            <a:ext cx="178308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79" y="3611880"/>
            <a:ext cx="3593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언더컷 73%</a:t>
            </a: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  비드 옆 패인 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691640"/>
            <a:ext cx="3593592" cy="1874519"/>
          </a:xfrm>
          <a:prstGeom prst="roundRect">
            <a:avLst>
              <a:gd name="adj" fmla="val 4000"/>
            </a:avLst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언더필 64%" descr="demo_underfil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9159" y="1737360"/>
            <a:ext cx="1008713" cy="17830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46719" y="3611880"/>
            <a:ext cx="3593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언더필 64%</a:t>
            </a: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  덜 채워진 비드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3593592" cy="1874519"/>
          </a:xfrm>
          <a:prstGeom prst="roundRect">
            <a:avLst>
              <a:gd name="adj" fmla="val 4000"/>
            </a:avLst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아크스트라이크 80%" descr="demo_arc_strik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3895" y="4114800"/>
            <a:ext cx="1783080" cy="1783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3593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아크스트라이크 80%</a:t>
            </a: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  3곳 모두 찾음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4069080"/>
            <a:ext cx="3593592" cy="1874519"/>
          </a:xfrm>
          <a:prstGeom prst="roundRect">
            <a:avLst>
              <a:gd name="adj" fmla="val 4000"/>
            </a:avLst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기공 68%" descr="demo_porosity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2936" y="4114800"/>
            <a:ext cx="1783080" cy="1783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97679" y="5989320"/>
            <a:ext cx="3593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기공 68%</a:t>
            </a: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  구멍이 모인 구간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4069080"/>
            <a:ext cx="3593592" cy="1874519"/>
          </a:xfrm>
          <a:prstGeom prst="roundRect">
            <a:avLst>
              <a:gd name="adj" fmla="val 4000"/>
            </a:avLst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스패터 61%" descr="demo_spatte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1976" y="4114800"/>
            <a:ext cx="1783080" cy="17830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46719" y="5989320"/>
            <a:ext cx="3593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스패터 61%</a:t>
            </a: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  알갱이 4개 각각 표시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05 · 프로젝트 결과 · 한계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다른 사진에도 통할까? 출처별로 다시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1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※ 출처별 원본 40장씩 다시 판정 · 학습에 쓴 사진이 일부 포함됨 · 결함 표시가 있는 표본 11~40장 · 출처 이름은 부록 참고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691640"/>
          <a:ext cx="676656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737360"/>
            <a:ext cx="4069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400" b="1" i="0" lang="ko-KR" altLang="en-US">
                <a:solidFill>
                  <a:srgbClr val="2B5C8A"/>
                </a:solidFill>
                <a:latin typeface="맑은 고딕"/>
                <a:ea typeface="맑은 고딕"/>
                <a:cs typeface="맑은 고딕"/>
              </a:rPr>
              <a:t>출처 A~I: 50~100%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학습에 쓴 사진이 섞여 있어 실제보다 높게 나온 값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4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주황 3곳: 0~24%</a:t>
            </a:r>
          </a:p>
          <a:p>
            <a:pPr algn="l" eaLnBrk="0">
              <a:lnSpc>
                <a:spcPct val="130000"/>
              </a:lnSpc>
              <a:spcAft>
                <a:spcPts val="60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학습한 출처인데도 못 맞힘: 과도한 확대 · 회전, 처음 보는 스타일, 결함 표시가 어긋난 고해상도 현장 사진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526280"/>
            <a:ext cx="4050791" cy="1737360"/>
          </a:xfrm>
          <a:prstGeom prst="roundRect">
            <a:avLst>
              <a:gd name="adj" fmla="val 6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18120" y="4526280"/>
            <a:ext cx="365760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eaLnBrk="0">
              <a:lnSpc>
                <a:spcPct val="135000"/>
              </a:lnSpc>
              <a:spcAft>
                <a:spcPts val="0"/>
              </a:spcAft>
            </a:pPr>
            <a:r>
              <a:rPr sz="140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테스트 점수가 좋아도 </a:t>
            </a:r>
            <a:r>
              <a:rPr sz="14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처음 보는 촬영 환경</a:t>
            </a:r>
            <a:r>
              <a:rPr sz="140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에서는 약합니다. 현장에 쓰려면 </a:t>
            </a:r>
            <a:r>
              <a:rPr sz="14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현장 사진으로 추가 학습</a:t>
            </a:r>
            <a:r>
              <a:rPr sz="140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필요합니다.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05 · 프로젝트 결과 · 개선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발견한 문제를 고친 개선판(v2)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17320"/>
          <a:ext cx="630936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86600" y="1417320"/>
          <a:ext cx="455371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262"/>
                <a:gridCol w="1183965"/>
                <a:gridCol w="1821484"/>
              </a:tblGrid>
              <a:tr h="502920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 항목</a:t>
                      </a:r>
                    </a:p>
                  </a:txBody>
                  <a:tcPr marL="109728" marR="109728" marT="36576" marB="36576" anchor="ctr">
                    <a:solidFill>
                      <a:srgbClr val="1721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(v1)</a:t>
                      </a:r>
                    </a:p>
                  </a:txBody>
                  <a:tcPr marL="109728" marR="109728" marT="36576" marB="36576" anchor="ctr">
                    <a:solidFill>
                      <a:srgbClr val="1721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 (v2)</a:t>
                      </a:r>
                    </a:p>
                  </a:txBody>
                  <a:tcPr marL="109728" marR="109728" marT="36576" marB="36576" anchor="ctr">
                    <a:solidFill>
                      <a:srgbClr val="17212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 불량 출처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포함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2곳 제외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학습용 사진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4,403장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16,332장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적은 결함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그대로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 학습 (최대 6배)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화면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결함명 박스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 · 색 · 위치 좌표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086600" y="4160520"/>
            <a:ext cx="4553712" cy="210312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0" y="434340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5000"/>
              </a:lnSpc>
              <a:spcAft>
                <a:spcPts val="800"/>
              </a:spcAft>
            </a:pPr>
            <a:r>
              <a:rPr sz="16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현재 상태</a:t>
            </a:r>
          </a:p>
          <a:p>
            <a:pPr algn="l" eaLnBrk="0">
              <a:lnSpc>
                <a:spcPct val="135000"/>
              </a:lnSpc>
              <a:spcAft>
                <a:spcPts val="800"/>
              </a:spcAft>
            </a:pPr>
            <a:r>
              <a:rPr sz="13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데이터와 코드 준비 완료. Colab에서 v2 재학습 진행 중이며, 끝나면 v1과 같은 방법으로 비교합니다.</a:t>
            </a:r>
          </a:p>
          <a:p>
            <a:pPr algn="l" eaLnBrk="0">
              <a:lnSpc>
                <a:spcPct val="135000"/>
              </a:lnSpc>
              <a:spcAft>
                <a:spcPts val="800"/>
              </a:spcAft>
            </a:pPr>
            <a:r>
              <a:rPr sz="11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학습용 사진에는 변형 사본과 반복 사진이 포함됩니다.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06 · 기대효과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현장에서 기대할 수 있는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6811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68680" y="1874519"/>
            <a:ext cx="685800" cy="685800"/>
          </a:xfrm>
          <a:prstGeom prst="ellipse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92807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0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판정 기준 통일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23160"/>
            <a:ext cx="3931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5000"/>
              </a:lnSpc>
              <a:spcAft>
                <a:spcPts val="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검사자가 달라도 같은 기준으로 1차 판정, 숙련도 차이를 줄임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46811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92240" y="1874519"/>
            <a:ext cx="685800" cy="685800"/>
          </a:xfrm>
          <a:prstGeom prst="ellipse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892807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0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빠른 1차 선별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423160"/>
            <a:ext cx="3931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5000"/>
              </a:lnSpc>
              <a:spcAft>
                <a:spcPts val="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폴더째 넣어 결함 의심 사진을 먼저 골라내고, 사람은 그 사진에 집중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546811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68680" y="4251960"/>
            <a:ext cx="685800" cy="685800"/>
          </a:xfrm>
          <a:prstGeom prst="ellipse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70248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0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기록과 추적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00600"/>
            <a:ext cx="3931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5000"/>
              </a:lnSpc>
              <a:spcAft>
                <a:spcPts val="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결함 위치가 표시된 이미지를 저장해 보고서 · 이력 관리에 활용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546811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92240" y="4251960"/>
            <a:ext cx="685800" cy="685800"/>
          </a:xfrm>
          <a:prstGeom prst="ellipse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270248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0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교육 · 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800600"/>
            <a:ext cx="3931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5000"/>
              </a:lnSpc>
              <a:spcAft>
                <a:spcPts val="0"/>
              </a:spcAft>
            </a:pPr>
            <a:r>
              <a:rPr sz="14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초보 검사자의 결함 학습 보조, 현장 사진을 더해 정확도 향상</a:t>
            </a:r>
          </a:p>
        </p:txBody>
      </p:sp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200" b="1" i="0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07 · 프로젝트 요약</a:t>
            </a:r>
            <a:endParaRPr lang="ko-KR" altLang="en-US" sz="1200" b="1" i="0">
              <a:solidFill>
                <a:srgbClr val="a94a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2800" b="1" i="0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한 장 요약</a:t>
            </a:r>
            <a:endParaRPr lang="ko-KR" altLang="en-US" sz="2800" b="1" i="0">
              <a:solidFill>
                <a:srgbClr val="1721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000" b="0" i="0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  <a:endParaRPr lang="ko-KR" altLang="en-US" sz="1000" b="0" i="0">
              <a:solidFill>
                <a:srgbClr val="5e687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000" b="0" i="0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26</a:t>
            </a:r>
            <a:endParaRPr lang="ko-KR" altLang="en-US" sz="1000" b="0" i="0">
              <a:solidFill>
                <a:srgbClr val="5e6873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508760"/>
            <a:ext cx="6309360" cy="0"/>
          </a:xfrm>
          <a:prstGeom prst="line">
            <a:avLst/>
          </a:prstGeom>
          <a:ln w="19050">
            <a:solidFill>
              <a:srgbClr val="172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09928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600" b="1" i="0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무엇을</a:t>
            </a:r>
            <a:endParaRPr lang="ko-KR" altLang="en-US" sz="1600" b="1" i="0">
              <a:solidFill>
                <a:srgbClr val="a94a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83080" y="1691639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용접 사진 속 결함 9종의 종류와 위치를 찾는 AI 판정 프로그램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548640" y="2450591"/>
            <a:ext cx="6309360" cy="0"/>
          </a:xfrm>
          <a:prstGeom prst="line">
            <a:avLst/>
          </a:prstGeom>
          <a:ln w="9525">
            <a:solidFill>
              <a:srgbClr val="d9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65176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600" b="1" i="0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어떻게</a:t>
            </a:r>
            <a:endParaRPr lang="ko-KR" altLang="en-US" sz="1600" b="1" i="0">
              <a:solidFill>
                <a:srgbClr val="a94a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83080" y="2633472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공개 데이터 15개를 9종으로 통일 → YOLO11s를 Colab GPU로 학습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392424"/>
            <a:ext cx="6309360" cy="0"/>
          </a:xfrm>
          <a:prstGeom prst="line">
            <a:avLst/>
          </a:prstGeom>
          <a:ln w="9525">
            <a:solidFill>
              <a:srgbClr val="d9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3593592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600" b="1" i="0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결과</a:t>
            </a:r>
            <a:endParaRPr lang="ko-KR" altLang="en-US" sz="1600" b="1" i="0">
              <a:solidFill>
                <a:srgbClr val="a94a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83080" y="3575304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위치 점수 60.9%, 6종은 판정 정확도 78~97%, 판정 프로그램 완성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334256"/>
            <a:ext cx="6309360" cy="0"/>
          </a:xfrm>
          <a:prstGeom prst="line">
            <a:avLst/>
          </a:prstGeom>
          <a:ln w="9525">
            <a:solidFill>
              <a:srgbClr val="d9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535424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600" b="1" i="0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한계</a:t>
            </a:r>
            <a:endParaRPr lang="ko-KR" altLang="en-US" sz="1600" b="1" i="0">
              <a:solidFill>
                <a:srgbClr val="a94a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83080" y="4517136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오버랩 · 용입부족 · 기공은 데이터 부족, 처음 보는 촬영 환경에 약함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5276088"/>
            <a:ext cx="6309360" cy="0"/>
          </a:xfrm>
          <a:prstGeom prst="line">
            <a:avLst/>
          </a:prstGeom>
          <a:ln w="9525">
            <a:solidFill>
              <a:srgbClr val="d9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5477255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600" b="1" i="0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다음</a:t>
            </a:r>
            <a:endParaRPr lang="ko-KR" altLang="en-US" sz="1600" b="1" i="0">
              <a:solidFill>
                <a:srgbClr val="a94a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83080" y="5458968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  <a:defRPr/>
            </a:pPr>
            <a:r>
              <a:rPr lang="ko-KR" altLang="en-US" sz="1400" b="0" i="0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v2 재학습, 실제 현장 사진 수집 · 라벨링 후 추가 학습</a:t>
            </a:r>
            <a:endParaRPr lang="ko-KR" altLang="en-US" sz="1400" b="0" i="0">
              <a:solidFill>
                <a:srgbClr val="3b455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217920"/>
            <a:ext cx="6309360" cy="0"/>
          </a:xfrm>
          <a:prstGeom prst="line">
            <a:avLst/>
          </a:prstGeom>
          <a:ln w="19050">
            <a:solidFill>
              <a:srgbClr val="172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78040" y="1508760"/>
            <a:ext cx="4462272" cy="4709160"/>
          </a:xfrm>
          <a:prstGeom prst="roundRect">
            <a:avLst>
              <a:gd name="adj" fmla="val 6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498079" y="173736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  <a:defRPr/>
            </a:pPr>
            <a:r>
              <a:rPr lang="ko-KR" altLang="en-US" sz="1800" b="1" i="0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한 줄 소감</a:t>
            </a:r>
            <a:endParaRPr lang="ko-KR" altLang="en-US" sz="1800" b="1" i="0">
              <a:solidFill>
                <a:srgbClr val="e270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98079" y="2377440"/>
            <a:ext cx="3886200" cy="1765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>
              <a:lnSpc>
                <a:spcPct val="145000"/>
              </a:lnSpc>
              <a:spcAft>
                <a:spcPts val="0"/>
              </a:spcAft>
              <a:defRPr/>
            </a:pPr>
            <a:r>
              <a:rPr lang="ko-KR" altLang="en-US"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“테스트 점수 90%에 기뻐했지만, </a:t>
            </a:r>
            <a:r>
              <a:rPr lang="ko-KR" altLang="en-US" sz="2000" b="1" i="0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현장 사진 앞에서 0%</a:t>
            </a:r>
            <a:r>
              <a:rPr lang="ko-KR" altLang="en-US"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를 보고 데이터의 무게가 얼마나 중요한지 배웠습니다.”</a:t>
            </a:r>
            <a:endParaRPr lang="ko-KR" altLang="en-US" sz="2000" b="1" i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07 · 프로젝트 요약 · 어려움과 해결 ①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데이터와의 씨름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4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힘들었던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37160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400" b="1" i="0" lang="ko-KR" altLang="en-US">
                <a:solidFill>
                  <a:srgbClr val="2B5C8A"/>
                </a:solidFill>
                <a:latin typeface="맑은 고딕"/>
                <a:ea typeface="맑은 고딕"/>
                <a:cs typeface="맑은 고딕"/>
              </a:rPr>
              <a:t>이렇게 해결했습니다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FB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공개 데이터마다 결함 이름이 달랐다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24개 데이터셋을 열어 보니 같은 스패터도 Spatters · Splatter, 언더컷은 중국어 ‘咬边’으로 적혀 있었습니다.</a:t>
            </a:r>
          </a:p>
        </p:txBody>
      </p:sp>
      <p:sp>
        <p:nvSpPr>
          <p:cNvPr id="11" name="Chevron 10"/>
          <p:cNvSpPr/>
          <p:nvPr/>
        </p:nvSpPr>
        <p:spPr>
          <a:xfrm>
            <a:off x="5897880" y="2267712"/>
            <a:ext cx="320040" cy="365760"/>
          </a:xfrm>
          <a:prstGeom prst="chevron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355080" y="1783080"/>
            <a:ext cx="5285232" cy="1325880"/>
          </a:xfrm>
          <a:prstGeom prst="roundRect">
            <a:avLst>
              <a:gd name="adj" fmla="val 6000"/>
            </a:avLst>
          </a:prstGeom>
          <a:solidFill>
            <a:srgbClr val="E3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19385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이름 바꾸기 표 + 눈으로 검수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31720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데이터별로 원래 이름을 9종에 연결하는 표를 만들고, 결함 부위를 잘라 한 장씩 확인했습니다.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39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FB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3447287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용입부족 외관 사진이 어디에도 없었다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40479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9종 중 하나인데 겉에서 찍은 공개 사진을 끝내 찾지 못했습니다.</a:t>
            </a:r>
          </a:p>
        </p:txBody>
      </p:sp>
      <p:sp>
        <p:nvSpPr>
          <p:cNvPr id="18" name="Chevron 17"/>
          <p:cNvSpPr/>
          <p:nvPr/>
        </p:nvSpPr>
        <p:spPr>
          <a:xfrm>
            <a:off x="5897880" y="3776472"/>
            <a:ext cx="320040" cy="365760"/>
          </a:xfrm>
          <a:prstGeom prst="chevron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355080" y="3291839"/>
            <a:ext cx="5285232" cy="1325880"/>
          </a:xfrm>
          <a:prstGeom prst="roundRect">
            <a:avLst>
              <a:gd name="adj" fmla="val 6000"/>
            </a:avLst>
          </a:prstGeom>
          <a:solidFill>
            <a:srgbClr val="E3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0" y="3447287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대안 4가지를 비교해 X-ray로 대체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40479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용접 중 영상, X-ray, 비슷한 결함 대체, 비워 두기를 비교해 X-ray를 쓰고, 한계는 결과에 그대로 밝혔습니다.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00600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FB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49560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테스트 90%인데 현장 사진은 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점수만 보고 끝났다고 생각했는데, 휴대폰으로 찍은 현장 사진에서는 결함을 하나도 찾지 못했습니다.</a:t>
            </a:r>
          </a:p>
        </p:txBody>
      </p:sp>
      <p:sp>
        <p:nvSpPr>
          <p:cNvPr id="25" name="Chevron 24"/>
          <p:cNvSpPr/>
          <p:nvPr/>
        </p:nvSpPr>
        <p:spPr>
          <a:xfrm>
            <a:off x="5897880" y="5285232"/>
            <a:ext cx="320040" cy="365760"/>
          </a:xfrm>
          <a:prstGeom prst="chevron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355080" y="4800600"/>
            <a:ext cx="5285232" cy="1325880"/>
          </a:xfrm>
          <a:prstGeom prst="roundRect">
            <a:avLst>
              <a:gd name="adj" fmla="val 6000"/>
            </a:avLst>
          </a:prstGeom>
          <a:solidFill>
            <a:srgbClr val="E3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0" y="495604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출처별 재검증으로 원인 추적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349240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결함 표시가 엉뚱한 곳에 그려진 데이터를 찾아 2곳을 빼고, 적은 결함은 반복 학습시키는 v2를 만들었습니다.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07 · 프로젝트 요약 · 어려움과 해결 ②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학습 환경과의 씨름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4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힘들었던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37160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400" b="1" i="0" lang="ko-KR" altLang="en-US">
                <a:solidFill>
                  <a:srgbClr val="2B5C8A"/>
                </a:solidFill>
                <a:latin typeface="맑은 고딕"/>
                <a:ea typeface="맑은 고딕"/>
                <a:cs typeface="맑은 고딕"/>
              </a:rPr>
              <a:t>이렇게 해결했습니다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FB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내 PC로는 학습에 13시간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GPU 메모리 4GB인 GTX 1650으로는 학습 한 번에 13분, 전체 13시간이 걸리는 속도였습니다.</a:t>
            </a:r>
          </a:p>
        </p:txBody>
      </p:sp>
      <p:sp>
        <p:nvSpPr>
          <p:cNvPr id="11" name="Chevron 10"/>
          <p:cNvSpPr/>
          <p:nvPr/>
        </p:nvSpPr>
        <p:spPr>
          <a:xfrm>
            <a:off x="5897880" y="2267712"/>
            <a:ext cx="320040" cy="365760"/>
          </a:xfrm>
          <a:prstGeom prst="chevron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355080" y="1783080"/>
            <a:ext cx="5285232" cy="1325880"/>
          </a:xfrm>
          <a:prstGeom prst="roundRect">
            <a:avLst>
              <a:gd name="adj" fmla="val 6000"/>
            </a:avLst>
          </a:prstGeom>
          <a:solidFill>
            <a:srgbClr val="E3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19385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가벼운 모델 시험 후 Colab GPU로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31720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더 가벼운 모델로 속도를 확인한 뒤, 학습은 Colab T4 GPU에서 하고 PC는 판정 프로그램 실행에 썼습니다.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39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FB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3447287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데이터 업로드 실패, 평가 중 메모리 초과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40479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Colab에 데이터를 올리지 못했고, 평가 단계에서는 GPU 메모리 11GB를 한꺼번에 요구하는 오류가 났습니다.</a:t>
            </a:r>
          </a:p>
        </p:txBody>
      </p:sp>
      <p:sp>
        <p:nvSpPr>
          <p:cNvPr id="18" name="Chevron 17"/>
          <p:cNvSpPr/>
          <p:nvPr/>
        </p:nvSpPr>
        <p:spPr>
          <a:xfrm>
            <a:off x="5897880" y="3776472"/>
            <a:ext cx="320040" cy="365760"/>
          </a:xfrm>
          <a:prstGeom prst="chevron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355080" y="3291839"/>
            <a:ext cx="5285232" cy="1325880"/>
          </a:xfrm>
          <a:prstGeom prst="roundRect">
            <a:avLst>
              <a:gd name="adj" fmla="val 6000"/>
            </a:avLst>
          </a:prstGeom>
          <a:solidFill>
            <a:srgbClr val="E3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0" y="3447287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노트북 구조를 바꾸고 나눠서 처리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40479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노트북이 Roboflow에서 직접 데이터를 만들도록 바꾸고, 평가는 사진을 16장씩 나눠 처리하게 고쳤습니다.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00600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FB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49560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입력창 하나를 놓쳐 5시간, 그리고 GPU 소진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키 입력창을 못 보고 5시간을 기다렸고, 그사이 무료 GPU 사용량이 바닥나 학습이 멈췄습니다.</a:t>
            </a:r>
          </a:p>
        </p:txBody>
      </p:sp>
      <p:sp>
        <p:nvSpPr>
          <p:cNvPr id="25" name="Chevron 24"/>
          <p:cNvSpPr/>
          <p:nvPr/>
        </p:nvSpPr>
        <p:spPr>
          <a:xfrm>
            <a:off x="5897880" y="5285232"/>
            <a:ext cx="320040" cy="365760"/>
          </a:xfrm>
          <a:prstGeom prst="chevron">
            <a:avLst/>
          </a:prstGeom>
          <a:solidFill>
            <a:srgbClr val="E27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355080" y="4800600"/>
            <a:ext cx="5285232" cy="1325880"/>
          </a:xfrm>
          <a:prstGeom prst="roundRect">
            <a:avLst>
              <a:gd name="adj" fmla="val 6000"/>
            </a:avLst>
          </a:prstGeom>
          <a:solidFill>
            <a:srgbClr val="E3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0" y="495604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끊겨도 이어지는 학습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349240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0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3B4550"/>
                </a:solidFill>
                <a:latin typeface="맑은 고딕"/>
                <a:ea typeface="맑은 고딕"/>
                <a:cs typeface="맑은 고딕"/>
              </a:rPr>
              <a:t>키 입력을 맨 앞으로 옮기고, 학습 기록을 매번 Drive에 저장해 끊겨도 그 지점부터 이어서 학습하게 했습니다.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07 · 프로젝트 요약 · 느낀 점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느낀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“숫자가 좋을 때보다, </a:t>
            </a:r>
            <a:r>
              <a:rPr sz="26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숫자를 의심했을 때</a:t>
            </a:r>
            <a:r>
              <a:rPr sz="2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더 많이 배웠습니다.”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468112" cy="1828800"/>
          </a:xfrm>
          <a:prstGeom prst="roundRect">
            <a:avLst>
              <a:gd name="adj" fmla="val 6000"/>
            </a:avLst>
          </a:prstGeom>
          <a:solidFill>
            <a:srgbClr val="22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24688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기뻤던 날, 무너졌던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80360"/>
            <a:ext cx="4983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균열 90%, 언더필 97%라는 숫자를 처음 봤을 때 정말 뿌듯했습니다. 그런데 휴대폰으로 찍은 현장 사진을 넣자 화면에는 ‘결함 미검출’만 떴습니다. 그 허탈함이 이 프로젝트에서 가장 크게 배운 순간이었습니다.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286000"/>
            <a:ext cx="5468112" cy="1828800"/>
          </a:xfrm>
          <a:prstGeom prst="roundRect">
            <a:avLst>
              <a:gd name="adj" fmla="val 6000"/>
            </a:avLst>
          </a:prstGeom>
          <a:solidFill>
            <a:srgbClr val="22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AI는 보여 준 만큼만 배운다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80360"/>
            <a:ext cx="4983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모델을 탓하고 싶었지만 사진을 한 장씩 다시 열어 보니, 결함 표시가 엉뚱한 곳에 그려진 데이터가 있었습니다. 좋은 AI는 좋은 코드보다 정직한 데이터에서 나온다는 것을 몸으로 이해했습니다.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68112" cy="1828800"/>
          </a:xfrm>
          <a:prstGeom prst="roundRect">
            <a:avLst>
              <a:gd name="adj" fmla="val 6000"/>
            </a:avLst>
          </a:prstGeom>
          <a:solidFill>
            <a:srgbClr val="22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4480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멈춰도 다시 이어 가는 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892040"/>
            <a:ext cx="4983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입력창 하나를 놓쳐 5시간을 기다리고, GPU가 바닥나 학습이 멈춘 날은 정말 속상했습니다. 하지만 그 덕분에 끊겨도 이어지는 구조를 만들었고, 실수가 시스템을 단단하게 만든다는 것을 배웠습니다.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97680"/>
            <a:ext cx="5468112" cy="1828800"/>
          </a:xfrm>
          <a:prstGeom prst="roundRect">
            <a:avLst>
              <a:gd name="adj" fmla="val 6000"/>
            </a:avLst>
          </a:prstGeom>
          <a:solidFill>
            <a:srgbClr val="22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46520" y="4480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5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현장의 눈에 대한 존경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892040"/>
            <a:ext cx="4983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9가지 결함을 하나하나 구분하며, 매일 눈으로 이 결함을 가려내는 검사자들의 경험이 얼마나 대단한지 새삼 느꼈습니다. 이 프로그램이 그분들을 대신하기보다, 지친 눈을 한 번 더 받쳐 주는 도구가 되길 바랍니다.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4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3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사진 한 장으로 시작한 AI가</a:t>
            </a:r>
          </a:p>
          <a:p>
            <a:pPr algn="l" eaLnBrk="0">
              <a:lnSpc>
                <a:spcPct val="125000"/>
              </a:lnSpc>
              <a:spcAft>
                <a:spcPts val="0"/>
              </a:spcAft>
            </a:pPr>
            <a:r>
              <a:rPr sz="3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검사자의 </a:t>
            </a:r>
            <a:r>
              <a:rPr sz="3600" b="1" i="0" lang="ko-KR" altLang="en-US">
                <a:solidFill>
                  <a:srgbClr val="E2702B"/>
                </a:solidFill>
                <a:latin typeface="맑은 고딕"/>
                <a:ea typeface="맑은 고딕"/>
                <a:cs typeface="맑은 고딕"/>
              </a:rPr>
              <a:t>든든한 두 번째 눈</a:t>
            </a:r>
            <a:r>
              <a:rPr sz="3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되도록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35000"/>
              </a:lnSpc>
              <a:spcAft>
                <a:spcPts val="0"/>
              </a:spcAft>
            </a:pPr>
            <a:r>
              <a:rPr sz="20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v2 재학습과 실제 현장 사진 학습으로 정확도를 높여, 검사 현장에서 바로 쓰이는 도구로 계속 발전시키겠습니다.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0" i="0" lang="ko-KR" altLang="en-US">
                <a:solidFill>
                  <a:srgbClr val="C9D1D9"/>
                </a:solidFill>
                <a:latin typeface="맑은 고딕"/>
                <a:ea typeface="맑은 고딕"/>
                <a:cs typeface="맑은 고딕"/>
              </a:rPr>
              <a:t>용접 결함 판정 AI · 김인국 · 2026.10.12 ~ 2026.11.04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200" b="1" i="0" lang="ko-KR" altLang="en-US">
                <a:solidFill>
                  <a:srgbClr val="A94A12"/>
                </a:solidFill>
                <a:latin typeface="맑은 고딕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2800" b="1" i="0" lang="ko-KR" altLang="en-US">
                <a:solidFill>
                  <a:srgbClr val="17212B"/>
                </a:solidFill>
                <a:latin typeface="맑은 고딕"/>
                <a:ea typeface="맑은 고딕"/>
                <a:cs typeface="맑은 고딕"/>
              </a:rPr>
              <a:t>출처별 재검증에 사용한 데이터셋 (Roboflow Universe)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용접 결함 판정 AI · 김인국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167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584"/>
                <a:gridCol w="5878586"/>
                <a:gridCol w="1331000"/>
                <a:gridCol w="1996500"/>
              </a:tblGrid>
              <a:tr h="347472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보고서 표시</a:t>
                      </a:r>
                    </a:p>
                  </a:txBody>
                  <a:tcPr marL="109728" marR="109728" marT="36576" marB="36576" anchor="ctr">
                    <a:solidFill>
                      <a:srgbClr val="1721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 (작성자 / 프로젝트)</a:t>
                      </a:r>
                    </a:p>
                  </a:txBody>
                  <a:tcPr marL="109728" marR="109728" marT="36576" marB="36576" anchor="ctr">
                    <a:solidFill>
                      <a:srgbClr val="1721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찾은 비율</a:t>
                      </a:r>
                    </a:p>
                  </a:txBody>
                  <a:tcPr marL="109728" marR="109728" marT="36576" marB="36576" anchor="ctr">
                    <a:solidFill>
                      <a:srgbClr val="1721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 표시 있는 표본</a:t>
                      </a:r>
                    </a:p>
                  </a:txBody>
                  <a:tcPr marL="109728" marR="109728" marT="36576" marB="36576" anchor="ctr">
                    <a:solidFill>
                      <a:srgbClr val="17212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A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oran-ai / visual-weld-inspector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11장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B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weld-qwzyj / welding-defects-detection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92%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39장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C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weld-defect-detection-onlal / weld-surface-defect-detection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17장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D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space-be2wb / final-welding-dataset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82%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28장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ai-vision-system / welding-defects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13장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F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delvin-9qaxw / weld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77%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39장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G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trithis-workspace / welding-defects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72%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40장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H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welddefectdetection / welddefectdetection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71%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34장</a:t>
                      </a:r>
                    </a:p>
                  </a:txBody>
                  <a:tcPr marL="109728" marR="109728" marT="36576" marB="36576" anchor="ctr">
                    <a:solidFill>
                      <a:srgbClr val="EEF1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I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welding-qdnjc / m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40장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변형 심한 사진</a:t>
                      </a:r>
                    </a:p>
                  </a:txBody>
                  <a:tcPr marL="109728" marR="109728" marT="36576" marB="36576" anchor="ctr">
                    <a:solidFill>
                      <a:srgbClr val="FBE9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mubessirul-ummah / afteraugmentasiwelddefect</a:t>
                      </a:r>
                    </a:p>
                  </a:txBody>
                  <a:tcPr marL="109728" marR="109728" marT="36576" marB="36576" anchor="ctr">
                    <a:solidFill>
                      <a:srgbClr val="FBE9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24%</a:t>
                      </a:r>
                    </a:p>
                  </a:txBody>
                  <a:tcPr marL="109728" marR="109728" marT="36576" marB="36576" anchor="ctr">
                    <a:solidFill>
                      <a:srgbClr val="FBE9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34장</a:t>
                      </a:r>
                    </a:p>
                  </a:txBody>
                  <a:tcPr marL="109728" marR="109728" marT="36576" marB="36576" anchor="ctr">
                    <a:solidFill>
                      <a:srgbClr val="FBE9D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낯선 스타일</a:t>
                      </a:r>
                    </a:p>
                  </a:txBody>
                  <a:tcPr marL="109728" marR="109728" marT="36576" marB="36576" anchor="ctr">
                    <a:solidFill>
                      <a:srgbClr val="FBE9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weldparts / welding_detect</a:t>
                      </a:r>
                    </a:p>
                  </a:txBody>
                  <a:tcPr marL="109728" marR="109728" marT="36576" marB="36576" anchor="ctr">
                    <a:solidFill>
                      <a:srgbClr val="FBE9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13%</a:t>
                      </a:r>
                    </a:p>
                  </a:txBody>
                  <a:tcPr marL="109728" marR="109728" marT="36576" marB="36576" anchor="ctr">
                    <a:solidFill>
                      <a:srgbClr val="FBE9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15장</a:t>
                      </a:r>
                    </a:p>
                  </a:txBody>
                  <a:tcPr marL="109728" marR="109728" marT="36576" marB="36576" anchor="ctr">
                    <a:solidFill>
                      <a:srgbClr val="FBE9D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eaLnBrk="0"/>
                      <a:r>
                        <a:rPr sz="1200" b="1" i="0" lang="ko-KR" altLang="en-US">
                          <a:solidFill>
                            <a:srgbClr val="1721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휴대폰 현장 사진</a:t>
                      </a:r>
                    </a:p>
                  </a:txBody>
                  <a:tcPr marL="109728" marR="109728" marT="36576" marB="36576" anchor="ctr">
                    <a:solidFill>
                      <a:srgbClr val="FBE9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weld-tk71z / weld51</a:t>
                      </a:r>
                    </a:p>
                  </a:txBody>
                  <a:tcPr marL="109728" marR="109728" marT="36576" marB="36576" anchor="ctr">
                    <a:solidFill>
                      <a:srgbClr val="FBE9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0%</a:t>
                      </a:r>
                    </a:p>
                  </a:txBody>
                  <a:tcPr marL="109728" marR="109728" marT="36576" marB="36576" anchor="ctr">
                    <a:solidFill>
                      <a:srgbClr val="FBE9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eaLnBrk="0"/>
                      <a:r>
                        <a:rPr sz="1200" b="0" i="0" lang="ko-KR" altLang="en-US">
                          <a:solidFill>
                            <a:srgbClr val="3B45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40장</a:t>
                      </a:r>
                    </a:p>
                  </a:txBody>
                  <a:tcPr marL="109728" marR="109728" marT="36576" marB="36576" anchor="ctr">
                    <a:solidFill>
                      <a:srgbClr val="FBE9D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035040"/>
            <a:ext cx="11064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eaLnBrk="0">
              <a:lnSpc>
                <a:spcPct val="115000"/>
              </a:lnSpc>
              <a:spcAft>
                <a:spcPts val="0"/>
              </a:spcAft>
            </a:pPr>
            <a:r>
              <a:rPr sz="1000" b="0" i="0" lang="ko-KR" altLang="en-US">
                <a:solidFill>
                  <a:srgbClr val="5E6873"/>
                </a:solidFill>
                <a:latin typeface="맑은 고딕"/>
                <a:ea typeface="맑은 고딕"/>
                <a:cs typeface="맑은 고딕"/>
              </a:rPr>
              <a:t>※ 원본 사진에는 학습에 쓴 사진이 일부 포함됨 · X-ray 사진 소스 3곳은 결함 표시 있는 표본이 0~2장이라 제외 · 출처: universe.roboflow.com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2681</ep:Words>
  <ep:PresentationFormat>On-screen Show (4:3)</ep:PresentationFormat>
  <ep:Paragraphs>490</ep:Paragraphs>
  <ep:Slides>31</ep:Slides>
  <ep:Notes>31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ep:HeadingPairs>
  <ep:TitlesOfParts>
    <vt:vector size="3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김인국</dc:creator>
  <dc:description>generated using python-pptx</dc:description>
  <cp:lastModifiedBy>김제경</cp:lastModifiedBy>
  <dcterms:modified xsi:type="dcterms:W3CDTF">2026-10-25T10:19:39.976</dcterms:modified>
  <cp:revision>2</cp:revision>
  <dc:title>용접 결함 판정 AI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